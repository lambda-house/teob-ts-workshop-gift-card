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0:00–0:05</a:t>
            </a:r>
          </a:p>
          <a:p>
            <a:r>
              <a:t>Welcome everyone. Before slides — ask the room:</a:t>
            </a:r>
          </a:p>
          <a:p>
            <a:r>
              <a:t>"What broke in your last distributed system?"</a:t>
            </a:r>
          </a:p>
          <a:p>
            <a:r>
              <a:t>Let 2-3 people share war stories. This primes them for why DDD + ES matters.</a:t>
            </a:r>
          </a:p>
          <a:p>
            <a:r>
              <a:t>Then: "Today you'll write two event-sourced aggregates from scratch."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0:05–0:08</a:t>
            </a:r>
          </a:p>
          <a:p>
            <a:r>
              <a:t>Frame the workshop outcomes clearly.</a:t>
            </a:r>
          </a:p>
          <a:p>
            <a:r>
              <a:t>"By the end of this session, you'll have working code — not just slides."</a:t>
            </a:r>
          </a:p>
          <a:p>
            <a:r>
              <a:t>This is the promise. Everything builds toward these three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0:08–0:10</a:t>
            </a:r>
          </a:p>
          <a:p>
            <a:r>
              <a:t>CRITICAL: This calibrates your depth for the rest of the talk.</a:t>
            </a:r>
          </a:p>
          <a:p>
            <a:r>
              <a:t>If most have DDD experience → skip basic aggregate explanation, go deeper on TEOB specifics.</a:t>
            </a:r>
          </a:p>
          <a:p>
            <a:r>
              <a:t>If most are new → slow down on decide/apply, give more context.</a:t>
            </a:r>
          </a:p>
          <a:p>
            <a:r>
              <a:t>If Akka/Axon users → draw parallels: "ctx is like ActorContext, Effect is like Effect in Akka Persistence"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0:10–0:12</a:t>
            </a:r>
          </a:p>
          <a:p>
            <a:r>
              <a:t>Show the map so people know where they are at all times.</a:t>
            </a:r>
          </a:p>
          <a:p>
            <a:r>
              <a:t>"We'll alternate between short theory bursts and hands-on coding."</a:t>
            </a:r>
          </a:p>
          <a:p>
            <a:r>
              <a:t>"The green blocks are where YOU write code."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0:12–0:16</a:t>
            </a:r>
          </a:p>
          <a:p>
            <a:r>
              <a:t>"This is what most of us build day to day."</a:t>
            </a:r>
          </a:p>
          <a:p>
            <a:r>
              <a:t>Don't dwell — this is the setup for why ES is different.</a:t>
            </a:r>
          </a:p>
          <a:p>
            <a:r>
              <a:t>Key pain points: in-place mutation, scaling,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0:16–0:18</a:t>
            </a:r>
          </a:p>
          <a:p>
            <a:r>
              <a:t>"What if we could have ALL of these?"</a:t>
            </a:r>
          </a:p>
          <a:p>
            <a:r>
              <a:t>This is the wish list. Event sourcing gives us most of them.</a:t>
            </a:r>
          </a:p>
          <a:p>
            <a:r>
              <a:t>Pause after each — let it sink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0:18–0:20</a:t>
            </a:r>
          </a:p>
          <a:p>
            <a:r>
              <a:t>"An entity is a self-contained unit of behavior."</a:t>
            </a:r>
          </a:p>
          <a:p>
            <a:r>
              <a:t>This is the DDD aggregate concept — but with a richer protocol.</a:t>
            </a:r>
          </a:p>
          <a:p>
            <a:r>
              <a:t>Foreshadow: "You'll implement exactly this pattern in 15 minutes."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0:20–0:23</a:t>
            </a:r>
          </a:p>
          <a:p>
            <a:r>
              <a:t>"Instead of updating a row, we append facts."</a:t>
            </a:r>
          </a:p>
          <a:p>
            <a:r>
              <a:t>The journal IS the source of truth. State is derived by replaying.</a:t>
            </a:r>
          </a:p>
          <a:p>
            <a:r>
              <a:t>Draw parallel to git: commits are events, working directory is state.</a:t>
            </a:r>
          </a:p>
          <a:p>
            <a:r>
              <a:t>"You can always rebuild state by replaying from the beginning."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0:23–0:27</a:t>
            </a:r>
          </a:p>
          <a:p>
            <a:r>
              <a:t>THIS IS THE CORE MENTAL MODEL. Spend time here.</a:t>
            </a:r>
          </a:p>
          <a:p>
            <a:r>
              <a:t>"decide() is WHERE your business logic lives. It looks at state + command and decides what happened."</a:t>
            </a:r>
          </a:p>
          <a:p>
            <a:r>
              <a:t>"apply() is a PURE fold — no logic, just state transitions."</a:t>
            </a:r>
          </a:p>
          <a:p>
            <a:r>
              <a:t>"This separation is what makes everything testable and replayable."</a:t>
            </a:r>
          </a:p>
          <a:p>
            <a:r>
              <a:t>Ask: "Why can't we put business logic in apply?" → Because replay would re-validate.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0:27–0:30</a:t>
            </a:r>
          </a:p>
          <a:p>
            <a:r>
              <a:t>"The Effect type is the key innovation. It's not just events — it's a full program."</a:t>
            </a:r>
          </a:p>
          <a:p>
            <a:r>
              <a:t>Highlight persist + andReply — they'll use these in Exercise 1.</a:t>
            </a:r>
          </a:p>
          <a:p>
            <a:r>
              <a:t>Mention andRun — they'll use this in Exercise 2.</a:t>
            </a:r>
          </a:p>
          <a:p>
            <a:r>
              <a:t>"Think of it as: decide returns a recipe, the runtime executes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0:30–0:35</a:t>
            </a:r>
          </a:p>
          <a:p>
            <a:r>
              <a:t>THIS IS THE AHA SLIDE. Go row by row.</a:t>
            </a:r>
          </a:p>
          <a:p>
            <a:r>
              <a:t>"If you know DDD, you already know TEOB. The mapping is 1:1."</a:t>
            </a:r>
          </a:p>
          <a:p>
            <a:r>
              <a:t>Emphasize: decide is the decision function, apply is the evolve/fold.</a:t>
            </a:r>
          </a:p>
          <a:p>
            <a:r>
              <a:t>"Invariants are first-class — executable and testable, not just documentation."</a:t>
            </a:r>
          </a:p>
          <a:p>
            <a:r>
              <a:t>Pause here. Ask: "Any questions before we see where TEOB goes beyond DDD?"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0:35–0:38</a:t>
            </a:r>
          </a:p>
          <a:p>
            <a:r>
              <a:t>"The core is DDD. The extras are what make it practical."</a:t>
            </a:r>
          </a:p>
          <a:p>
            <a:r>
              <a:t>Don't go deep on Stash — mention it exists, move on.</a:t>
            </a:r>
          </a:p>
          <a:p>
            <a:r>
              <a:t>Emphasize Effect ADT and Reply — they'll use these immediately.</a:t>
            </a:r>
          </a:p>
          <a:p>
            <a:r>
              <a:t>"ctx is your toolbox. In Exercise 1 you won't need it. In Exercise 2, it's everything."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0:38–0:40</a:t>
            </a:r>
          </a:p>
          <a:p>
            <a:r>
              <a:t>"Your business logic doesn't know or care about the database."</a:t>
            </a:r>
          </a:p>
          <a:p>
            <a:r>
              <a:t>"In the exercises, we use InMemoryRuntime. In production, swap to Postgres. Zero code changes."</a:t>
            </a:r>
          </a:p>
          <a:p>
            <a:r>
              <a:t>This is the payoff of the separation.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0:40–0:42</a:t>
            </a:r>
          </a:p>
          <a:p>
            <a:r>
              <a:t>LIVE DEMO: Open terminal, run the test command. Show 13 failing tests.</a:t>
            </a:r>
          </a:p>
          <a:p>
            <a:r>
              <a:t>"Your job for the next 30 minutes: make them green."</a:t>
            </a:r>
          </a:p>
          <a:p>
            <a:r>
              <a:t>"Start with Issue — it's the simplest. The hints are in the file."</a:t>
            </a:r>
          </a:p>
          <a:p>
            <a:r>
              <a:t>Walk through the file structure briefly: gift-card.ts has TODOs, tests tell you what to expect.</a:t>
            </a:r>
          </a:p>
          <a:p>
            <a:r>
              <a:t>"Solution is in gift-card.solution.ts — but try first!"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0:42–1:12 (30 min work time)</a:t>
            </a:r>
          </a:p>
          <a:p>
            <a:r>
              <a:t>LEAVE THIS SLIDE UP during exercise.</a:t>
            </a:r>
          </a:p>
          <a:p/>
          <a:p>
            <a:r>
              <a:t>Walk the room / monitor chat.</a:t>
            </a:r>
          </a:p>
          <a:p>
            <a:r>
              <a:t>At 15 min: "How many tests are green so far? Show of hands: more than 5?"</a:t>
            </a:r>
          </a:p>
          <a:p>
            <a:r>
              <a:t>At 15 min: Show Hint 1 if people are stuck (the Issue case pattern).</a:t>
            </a:r>
          </a:p>
          <a:p>
            <a:r>
              <a:t>At 25 min: If significant portion stuck, live-code the Issue case on screen.</a:t>
            </a:r>
          </a:p>
          <a:p>
            <a:r>
              <a:t>At 28 min: "2 minutes left — if you haven't finished, that's fine. We'll review together."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1:12–1:17</a:t>
            </a:r>
          </a:p>
          <a:p>
            <a:r>
              <a:t>Live-code the full solution if needed. Walk through each case.</a:t>
            </a:r>
          </a:p>
          <a:p>
            <a:r>
              <a:t>"Notice: no database, no HTTP, no framework setup. Just domain logic."</a:t>
            </a:r>
          </a:p>
          <a:p>
            <a:r>
              <a:t>"The test kit runs decide/apply in memory — pure unit tests."</a:t>
            </a:r>
          </a:p>
          <a:p>
            <a:r>
              <a:t>Ask: "What surprised you? What felt different from how you usually write this?"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1:17–1:22</a:t>
            </a:r>
          </a:p>
          <a:p>
            <a:r>
              <a:t>CRITICAL BREAK. People need to reset before the harder exercise.</a:t>
            </a:r>
          </a:p>
          <a:p>
            <a:r>
              <a:t>"When we come back: the fun part — two aggregates communicating."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1:22–1:30</a:t>
            </a:r>
          </a:p>
          <a:p>
            <a:r>
              <a:t>"In Exercise 1, your aggregate was alone. Now: two aggregates collaborate."</a:t>
            </a:r>
          </a:p>
          <a:p>
            <a:r>
              <a:t>Walk through the diagram left-to-right:</a:t>
            </a:r>
          </a:p>
          <a:p>
            <a:r>
              <a:t>1. Order receives PlaceOrder, persists OrderPlaced, tells Payment to Charge</a:t>
            </a:r>
          </a:p>
          <a:p>
            <a:r>
              <a:t>2. Payment receives Charge, calls gateway via ctx.sync()</a:t>
            </a:r>
          </a:p>
          <a:p>
            <a:r>
              <a:t>3. Gateway result comes back as a command (ChargeSucceeded/Failed)</a:t>
            </a:r>
          </a:p>
          <a:p>
            <a:r>
              <a:t>4. Payment tells Order: ConfirmPayment or RejectPayment</a:t>
            </a:r>
          </a:p>
          <a:p/>
          <a:p>
            <a:r>
              <a:t>KEY INSIGHT: "Commands cross boundaries. Events stay within their aggregate."</a:t>
            </a:r>
          </a:p>
          <a:p>
            <a:r>
              <a:t>Ask: "Why not just emit events and let the other aggregate listen?" → Coupling, ordering,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1:30–1:35</a:t>
            </a:r>
          </a:p>
          <a:p>
            <a:r>
              <a:t>LIVE DEMO: Open order.ts and walk through the code.</a:t>
            </a:r>
          </a:p>
          <a:p>
            <a:r>
              <a:t>"This is the pattern. Study PlaceOrder — see how andRun + ctx.tell works."</a:t>
            </a:r>
          </a:p>
          <a:p>
            <a:r>
              <a:t>"Your job: implement the Payment side using the same patterns."</a:t>
            </a:r>
          </a:p>
          <a:p>
            <a:r>
              <a:t>"The integration tests are the wow moment — two aggregates in one runtime, full flow."</a:t>
            </a:r>
          </a:p>
          <a:p>
            <a:r>
              <a:t>Hint: Start with GetStatus (easiest), then Charge, then the callbacks.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1:35–2:10 (35 min work time)</a:t>
            </a:r>
          </a:p>
          <a:p>
            <a:r>
              <a:t>LEAVE THIS SLIDE UP during exercise.</a:t>
            </a:r>
          </a:p>
          <a:p/>
          <a:p>
            <a:r>
              <a:t>At 10 min: "Who has GetStatus passing?" Show Hint 1 if needed.</a:t>
            </a:r>
          </a:p>
          <a:p>
            <a:r>
              <a:t>At 15 min: Show Hint 2 (the Charge case with ctx.sync pattern).</a:t>
            </a:r>
          </a:p>
          <a:p>
            <a:r>
              <a:t>At 25 min: If many stuck on callbacks, live-code ChargeSucceeded.</a:t>
            </a:r>
          </a:p>
          <a:p>
            <a:r>
              <a:t>At 30 min: "5 minutes left. Focus on getting the unit tests green.</a:t>
            </a:r>
          </a:p>
          <a:p>
            <a:r>
              <a:t>            The integration tests are a bonus — we'll demo them together."</a:t>
            </a:r>
          </a:p>
          <a:p>
            <a:r>
              <a:t>At 33 min: "Wrapping up in 2 minutes."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2:10–2:17</a:t>
            </a:r>
          </a:p>
          <a:p>
            <a:r>
              <a:t>LIVE DEMO: Run the integration test on screen. Show it passing.</a:t>
            </a:r>
          </a:p>
          <a:p>
            <a:r>
              <a:t>Walk through the 6-step flow on the slide.</a:t>
            </a:r>
          </a:p>
          <a:p>
            <a:r>
              <a:t>"All of this happened with fire-and-forget commands. No HTTP, no message broker, no choreography."</a:t>
            </a:r>
          </a:p>
          <a:p>
            <a:r>
              <a:t>"The runtime handles delivery. Your code just says ctx.tell()."</a:t>
            </a:r>
          </a:p>
          <a:p>
            <a:r>
              <a:t>THIS IS THE WOW MOMENT.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2:17–2:20</a:t>
            </a:r>
          </a:p>
          <a:p>
            <a:r>
              <a:t>"You just built the green layer. Everything else is provided."</a:t>
            </a:r>
          </a:p>
          <a:p>
            <a:r>
              <a:t>"To go to production: swap InMemoryRuntime → PostgresRuntime, add ServiceTemplate, done."</a:t>
            </a:r>
          </a:p>
          <a:p>
            <a:r>
              <a:t>Quick mention of projections and sagas — "that's the next workshop."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2:20–2:22</a:t>
            </a:r>
          </a:p>
          <a:p>
            <a:r>
              <a:t>Credibility slide. Keep it brief.</a:t>
            </a:r>
          </a:p>
          <a:p>
            <a:r>
              <a:t>"This isn't a toy framework. The Scala version has been running fintech systems for 10+ years."</a:t>
            </a:r>
          </a:p>
          <a:p>
            <a:r>
              <a:t>"The TypeScript port brings the same patterns to a broader ecosystem."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2:22–2:24 (optional — include if time allows)</a:t>
            </a:r>
          </a:p>
          <a:p>
            <a:r>
              <a:t>"The pure functional style means AI assistants can generate aggregate code reliably."</a:t>
            </a:r>
          </a:p>
          <a:p>
            <a:r>
              <a:t>"The CLI scaffolds a working aggregate in seconds."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2:24–2:26 (optional teaser)</a:t>
            </a:r>
          </a:p>
          <a:p>
            <a:r>
              <a:t>"Event sourcing gives you time-travel, audit, replay for free.</a:t>
            </a:r>
          </a:p>
          <a:p>
            <a:r>
              <a:t> Now imagine your AI agent's entire conversation history, tool calls,</a:t>
            </a:r>
          </a:p>
          <a:p>
            <a:r>
              <a:t> and decisions are events. Crash? Replay from journal. Debug? Replay specific steps."</a:t>
            </a:r>
          </a:p>
          <a:p>
            <a:r>
              <a:t>Tease — don't go deep. This is a future workshop topic.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2:26–2:30</a:t>
            </a:r>
          </a:p>
          <a:p>
            <a:r>
              <a:t>"You just built two event-sourced aggregates with cross-boundary communication.</a:t>
            </a:r>
          </a:p>
          <a:p>
            <a:r>
              <a:t> That's not a demo — that's the real pattern."</a:t>
            </a:r>
          </a:p>
          <a:p/>
          <a:p>
            <a:r>
              <a:t>Go through each CTA. If you have a QR code to the repo, show it now.</a:t>
            </a:r>
          </a:p>
          <a:p>
            <a:r>
              <a:t>"Exercise 3 will be in the repo by next week" — gives them a reason to come back.</a:t>
            </a:r>
          </a:p>
          <a:p>
            <a:r>
              <a:t>Open for questions.</a:t>
            </a:r>
          </a:p>
          <a:p/>
          <a:p>
            <a:r>
              <a:t>RECORDING NOTE: This is a good cut point for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6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800000"/>
            <a:ext cx="10728655" cy="12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2222"/>
                </a:solidFill>
              </a:defRPr>
            </a:pPr>
            <a:r>
              <a:t>DDD WITH TEOB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444444"/>
                </a:solidFill>
              </a:defRPr>
            </a:pPr>
            <a:r>
              <a:t>Hands-On Workshop: Event-Sourced Aggregates in TypeScript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888888"/>
                </a:solidFill>
              </a:defRPr>
            </a:pPr>
            <a:r>
              <a:t>Tim Evdokimov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WHAT YOU'LL BUILD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0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000" y="175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Model a DDD aggregate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0000" y="21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with commands, events, state, and invariants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0000" y="325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Test it with a dedicated test 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000" y="36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— 15 tests from red to green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0000"/>
            <a:ext cx="7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000" y="4750000"/>
            <a:ext cx="9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222222"/>
                </a:solidFill>
              </a:defRPr>
            </a:pPr>
            <a:r>
              <a:t>Connect two aggregates across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000" y="51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with ctx.tell() and ctx.sync()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QUICK CHECK — SHOW OF HANDS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7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implemented a DDD aggregate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6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worked with event sourcing in production?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5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writes TypeScript regularly?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4400000"/>
            <a:ext cx="100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222222"/>
                </a:solidFill>
              </a:defRPr>
            </a:pPr>
            <a:r>
              <a:t>✋  Who has used Akka, Axon, or EventStoreDB?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ROAD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444444"/>
                </a:solidFill>
              </a:defRPr>
            </a:pPr>
            <a:r>
              <a:t>Backend Architectures: Traditional → Latency-Critical → Event-Sourced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Traditional</a:t>
            </a:r>
            <a:br/>
            <a: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Event Sourcing</a:t>
            </a:r>
            <a:br/>
            <a:r>
              <a:t>&amp; Effects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15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DDD ↔ TEOB</a:t>
            </a:r>
            <a:br/>
            <a:r>
              <a:t>Mapping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Exercise 1</a:t>
            </a:r>
            <a:br/>
            <a:r>
              <a:t>Gift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30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Aggregate</a:t>
            </a:r>
            <a:br/>
            <a:r>
              <a:t>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Exercise 2</a:t>
            </a:r>
            <a:br/>
            <a:r>
              <a:t>Order+Payment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35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00000" y="2400000"/>
            <a:ext cx="1400000" cy="18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</a:defRPr>
            </a:pPr>
            <a:r>
              <a:t>Full Picture</a:t>
            </a:r>
            <a:br/>
            <a:r>
              <a:t>&amp; Next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0000" y="4400000"/>
            <a:ext cx="14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888888"/>
                </a:solidFill>
              </a:defRPr>
            </a:pPr>
            <a:r>
              <a:t>10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444444"/>
                </a:solidFill>
              </a:defRPr>
            </a:pPr>
            <a:r>
              <a:t>~2 hours total  •  Two hands-on exercises  •  Everything runs locally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TRADITIONAL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2222"/>
                </a:solidFill>
              </a:defRPr>
            </a:pPr>
            <a:r>
              <a:t>Primary state: in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Database as source of truth: updates in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Many clients, larger states, frequent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Locks and I/O overhead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Single master doesn't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2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Caching??...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0" y="1800000"/>
            <a:ext cx="18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t>Client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0" y="2800000"/>
            <a:ext cx="1800000" cy="7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t>Client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2100000"/>
            <a:ext cx="2200000" cy="1200000"/>
          </a:xfrm>
          <a:prstGeom prst="roundRect">
            <a:avLst>
              <a:gd name="adj" fmla="val 5000"/>
            </a:avLst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Database</a:t>
            </a:r>
            <a:br/>
            <a:r>
              <a:t>(mutable)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WHAT MAKES AN IDEAL BACKEND?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7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(Almost) infinitely scalable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00000" y="17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No single master, no locks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255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Lowest latency possible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0000" y="258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Primary state in memory, not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34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Always 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00000" y="34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Durability, ordering, integrity guarantees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425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Transparent, auditable logics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0000" y="428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Every state change is an event you can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000" y="510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66AA"/>
                </a:solidFill>
              </a:defRPr>
            </a:pPr>
            <a:r>
              <a:t>Below complexity barrier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0000" y="513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444444"/>
                </a:solidFill>
              </a:defRPr>
            </a:pPr>
            <a:r>
              <a:t>Express intent, not infrastructure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COMPLETE BEHAVIOUR: DATA + LOGICS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444444"/>
                </a:solidFill>
              </a:defRPr>
            </a:pPr>
            <a:r>
              <a:t>Business entities: orders, transactions, customers, digital twins...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1">
                <a:solidFill>
                  <a:srgbClr val="222222"/>
                </a:solidFill>
              </a:defRPr>
            </a:pPr>
            <a:r>
              <a:t>Own state and interactions with the world — fully covered: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Incoming messages (commands) + immediate replies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State changes (events applied to 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External effect calls (to other systems, databases...)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Deferred replies and scheduled timers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EVENT SOURCING: 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2222"/>
                </a:solidFill>
              </a:defRPr>
            </a:pPr>
            <a:r>
              <a:t>Primary state: in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Log of updates (journal) as source of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Stream — append-only, immutable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Never in-place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LSM-tree / SSTable: no locks necessary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2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• No I/O overhead, no single master — scales!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0000" y="1500000"/>
            <a:ext cx="4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2266AA"/>
                </a:solidFill>
              </a:defRPr>
            </a:pPr>
            <a:r>
              <a:t>Event Journal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0000" y="2000000"/>
            <a:ext cx="3200000" cy="38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6BB6A"/>
                </a:solidFill>
              </a:defRPr>
            </a:pPr>
            <a:r>
              <a:t>#1  OrderPlaced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2500000"/>
            <a:ext cx="3200000" cy="38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6BB6A"/>
                </a:solidFill>
              </a:defRPr>
            </a:pPr>
            <a:r>
              <a:t>#2  ItemAdded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000000"/>
            <a:ext cx="3200000" cy="38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6BB6A"/>
                </a:solidFill>
              </a:defRPr>
            </a:pPr>
            <a:r>
              <a:t>#3  ItemAdded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00000" y="3500000"/>
            <a:ext cx="3200000" cy="38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6BB6A"/>
                </a:solidFill>
              </a:defRPr>
            </a:pPr>
            <a:r>
              <a:t>#4  OrderConfirmed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000000"/>
            <a:ext cx="3200000" cy="380000"/>
          </a:xfrm>
          <a:prstGeom prst="roundRect">
            <a:avLst>
              <a:gd name="adj" fmla="val 5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66BB6A"/>
                </a:solidFill>
              </a:defRPr>
            </a:pPr>
            <a:r>
              <a:t>#5  PaymentReceived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0000" y="4700000"/>
            <a:ext cx="3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888888"/>
                </a:solidFill>
              </a:defRPr>
            </a:pPr>
            <a:r>
              <a:t>→ append only, never mutate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STREAM OF UPDATES: PURE EVENT SOURCING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000"/>
            <a:ext cx="6000000" cy="38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700">
                <a:solidFill>
                  <a:srgbClr val="FFFFFF"/>
                </a:solidFill>
                <a:latin typeface="SF Mono"/>
              </a:defRPr>
            </a:pPr>
            <a:r>
              <a:t>Command handler:</a:t>
            </a:r>
            <a:br/>
            <a:r>
              <a:t>  → gets validated</a:t>
            </a:r>
            <a:br/>
            <a:r>
              <a:t>  → may produce a reply</a:t>
            </a:r>
            <a:br/>
            <a:r>
              <a:t>  → produces events</a:t>
            </a:r>
            <a:br/>
            <a:br/>
            <a:r>
              <a:t>decide(State, Command) → Effect&lt;Event, Reply&gt;</a:t>
            </a:r>
            <a:br/>
            <a:br/>
            <a:r>
              <a:t>Events applied to state to get new state:</a:t>
            </a:r>
            <a:br/>
            <a:br/>
            <a:r>
              <a:t>apply(State, Event) → State</a:t>
            </a:r>
            <a:br/>
            <a:br/>
            <a:r>
              <a:t>// initial state = fold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00000" y="16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Command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0" y="23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00000" y="27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decide()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0000" y="34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00000" y="38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Event(s)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0000" y="4500000"/>
            <a:ext cx="6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444444"/>
                </a:solidFill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0000" y="4900000"/>
            <a:ext cx="2400000" cy="6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apply() → State'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EVENT SOURCING: 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444444"/>
                </a:solidFill>
              </a:defRPr>
            </a:pPr>
            <a:r>
              <a:t>decide() doesn't just return events — it returns an Effect describing what should happen: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persist(event)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0000" y="23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Store event(s) in the journal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reply(value)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0000" y="30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Respond to the caller immediately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andReply(persist(...), reply)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0000" y="37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Persist + reply atomically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andRun(persist(...), sideEffect)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0000" y="44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Persist, then run async side effect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00000"/>
            <a:ext cx="48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done()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0000" y="5180000"/>
            <a:ext cx="5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888888"/>
                </a:solidFill>
              </a:defRPr>
            </a:pPr>
            <a:r>
              <a:t>No-op — acknowledge without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Fully describes complete behaviour. Synchronous effects, timers, commands to other entities, deferred replies.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DDD CORE MAPS 1:1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00000"/>
          <a:ext cx="115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3500000"/>
                <a:gridCol w="5500000"/>
              </a:tblGrid>
              <a:tr h="5000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DDD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TEOB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marL="101600" marT="50800">
                    <a:solidFill>
                      <a:srgbClr val="2266AA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Aggregate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Aggregate&lt;S, C, E, R&gt;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The consistency boundary. One category = one type.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Aggregate ID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EntityId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Branded string, same concept.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Command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Command (type param)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Inbound intent.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Domain Event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Event (type param)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Fact that happened.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Decision function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decide(state, cmd, ctx)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"Given this state and this command, what happens?"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State fold / evolve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apply(state, event)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Pure left-fold. The event applicator.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Initial state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initial(id)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The "zero" of the fold.</a:t>
                      </a:r>
                    </a:p>
                  </a:txBody>
                  <a:tcPr marL="101600" marT="50800"/>
                </a:tc>
              </a:tr>
              <a:tr h="5000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222"/>
                          </a:solidFill>
                        </a:defRPr>
                      </a:pPr>
                      <a:r>
                        <a:t>Invariant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66AA"/>
                          </a:solidFill>
                          <a:latin typeface="SF Mono"/>
                        </a:defRPr>
                      </a:pPr>
                      <a:r>
                        <a:t>invariants[]</a:t>
                      </a:r>
                    </a:p>
                  </a:txBody>
                  <a:tcPr marL="101600" marT="50800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44444"/>
                          </a:solidFill>
                        </a:defRPr>
                      </a:pPr>
                      <a:r>
                        <a:t>Executable, testable — faithful to DDD intent.</a:t>
                      </a:r>
                    </a:p>
                  </a:txBody>
                  <a:tcPr marL="101600" marT="50800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BEYOND THE BLUE 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Effect ADT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0000" y="17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DDD aggregates return events (or throw). TEOB returns a declarative Effect&lt;Event, Reply&gt; — a program describing what should happen.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Reply as first-class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000" y="26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DDD aggregates are void or throw. TEOB: persist(...).andReply(...) atomically. CQRS-with-response.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EffectControl (ctx)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000" y="35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In strict DDD, the aggregate is pure. ctx gives access to timers, cross-entity messaging, external effects.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Stash/Unstash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0000" y="44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Actor model concept (Akka heritage). Buffers commands during certain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66AA"/>
                </a:solidFill>
              </a:defRPr>
            </a:pPr>
            <a:r>
              <a:t>Invariants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0000" y="5300000"/>
            <a:ext cx="8000000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444444"/>
                </a:solidFill>
              </a:defRPr>
            </a:pPr>
            <a:r>
              <a:t>Closer to DDD than most ES frameworks. Executable and testable — faithful to why the boundary exists.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2222"/>
                </a:solidFill>
              </a:defRPr>
            </a:pPr>
            <a:r>
              <a:t>Core loop maps 1:1 to DDD. TEOB adds: effect system + actor model + infrastructure.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EVERYTHING IS AN 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Complete entity behaviour — as pure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Codecs — serialisable, on-the-wire representation (Command, Reply, Event, State)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Agnostic to execution and persistence: scalability / durability /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Multiple runtimes: in-memory, SQLite, PostgreSQL, ... (same aggregate code)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00000"/>
            <a:ext cx="7000000" cy="12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// Same aggregate code, different runtimes:</a:t>
            </a:r>
            <a:br/>
            <a:r>
              <a:t>createInMemoryRuntime([reg])     // tests &amp; dev</a:t>
            </a:r>
            <a:br/>
            <a:r>
              <a:t>createSQLiteRuntime([reg])       // zero-config local</a:t>
            </a:r>
            <a:br/>
            <a:r>
              <a:t>createPostgresRuntime([reg])     // 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400" b="1">
                <a:solidFill>
                  <a:srgbClr val="66BB6A"/>
                </a:solidFill>
              </a:defRPr>
            </a:pPr>
            <a:r>
              <a:t>EXERCISE 1: GIFT CARD AGGREGATE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000"/>
            <a:ext cx="6500000" cy="10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700">
                <a:solidFill>
                  <a:srgbClr val="FFFFFF"/>
                </a:solidFill>
                <a:latin typeface="SF Mono"/>
              </a:defRPr>
            </a:pPr>
            <a:r>
              <a:t>Commands:  Issue | Redeem | Cancel | GetBalance</a:t>
            </a:r>
            <a:br/>
            <a:r>
              <a:t>Events:    Issued | Redeemed | Cancelled</a:t>
            </a:r>
            <a:br/>
            <a:r>
              <a:t>State:     { balance, status 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00000"/>
            <a:ext cx="6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222222"/>
                </a:solidFill>
              </a:defRPr>
            </a:pPr>
            <a:r>
              <a:t>Business rules to implement: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0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Issue only if card is Empty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2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Redeem only if Active, amount ≤ 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4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Cancel only if 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0000"/>
            <a:ext cx="10728655" cy="42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Invariants: balance ≥ 0, cancelled → balance =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00000"/>
            <a:ext cx="85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npx vitest run workshop/exercise1-gift-card/gift-card.test.ts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0000" y="5450000"/>
            <a:ext cx="3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66BB6A"/>
                </a:solidFill>
              </a:defRPr>
            </a:pPr>
            <a:r>
              <a:t>15 tests.</a:t>
            </a:r>
            <a:br/>
            <a:r>
              <a:t>Make them green.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888888"/>
                </a:solidFill>
              </a:defRPr>
            </a:pPr>
            <a:r>
              <a:t>Start with Issue → GetBalance → Redeem → Cancel → Invariants     |     Stuck? See HINTS.md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00000"/>
            <a:ext cx="10728655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66BB6A"/>
                </a:solidFill>
              </a:defRPr>
            </a:pPr>
            <a:r>
              <a:t>EXERCISE 1: GIFT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30 minutes  •  15 tests  •  implement decide() +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66BB6A"/>
                </a:solidFill>
                <a:latin typeface="SF Mono"/>
              </a:defRPr>
            </a:pPr>
            <a:r>
              <a:t>npx vitest run workshop/exercise1-gift-card/gift-card.test.ts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EXERCISE 1: DEBRIEF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22222"/>
                </a:solidFill>
              </a:defRPr>
            </a:pPr>
            <a:r>
              <a:t>What you just built: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decide() — all business logic in one place, pattern-matched on command tag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5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apply() — pure state fold, no logic, just data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invariants[] — executable contracts that guard your aggregate's consistency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5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Effect ADT — persist(), reply(), andReply() — declarative, composable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00000"/>
            <a:ext cx="10728655" cy="5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• AggregateTestKit — test without infrastructure, test the domain directly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00000"/>
            <a:ext cx="8500000" cy="10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500">
                <a:solidFill>
                  <a:srgbClr val="FFFFFF"/>
                </a:solidFill>
                <a:latin typeface="SF Mono"/>
              </a:defRPr>
            </a:pPr>
            <a:r>
              <a:t>// The core pattern you'll use everywhere:</a:t>
            </a:r>
            <a:br/>
            <a:r>
              <a:t>if (invalid) return reply({ tag: 'Rejected', reason: '...' })</a:t>
            </a:r>
            <a:br/>
            <a:r>
              <a:t>return andReply(persist(event), { tag: 'Ok' })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5 minutes  •  stretch  •  refill coffee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2266AA"/>
                </a:solidFill>
              </a:defRPr>
            </a:pPr>
            <a:r>
              <a:t>Next up: two aggregates talking to each other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HOW DO AGGREGATES TALK?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0000" y="2000000"/>
            <a:ext cx="2800000" cy="12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Order</a:t>
            </a:r>
            <a:br/>
            <a:r>
              <a:t>Aggregate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0000" y="2000000"/>
            <a:ext cx="2800000" cy="12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Payment</a:t>
            </a:r>
            <a:br/>
            <a:r>
              <a:t>Aggregate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00000" y="2000000"/>
            <a:ext cx="2200000" cy="12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Payment</a:t>
            </a:r>
            <a:br/>
            <a:r>
              <a:t>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0000" y="16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222222"/>
                </a:solidFill>
                <a:latin typeface="SF Mono"/>
              </a:defRPr>
            </a:pPr>
            <a:r>
              <a:t>ctx.tell(Charge)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0000" y="33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222222"/>
                </a:solidFill>
                <a:latin typeface="SF Mono"/>
              </a:defRPr>
            </a:pPr>
            <a:r>
              <a:t>ctx.tell(Confirm)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0000" y="1600000"/>
            <a:ext cx="2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222222"/>
                </a:solidFill>
                <a:latin typeface="SF Mono"/>
              </a:defRPr>
            </a:pPr>
            <a:r>
              <a:t>ctx.sync()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0000" y="2200000"/>
            <a:ext cx="1200000" cy="3000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0000" y="3000000"/>
            <a:ext cx="12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←←←←←←←←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00000" y="2200000"/>
            <a:ext cx="1200000" cy="3000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  <a:latin typeface="SF Mono"/>
              </a:defRPr>
            </a:pPr>
            <a:r>
              <a:t>CategoryRegistration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0000" y="4000000"/>
            <a:ext cx="8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— type-safe cross-entity contract (compile-time checked)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  <a:latin typeface="SF Mono"/>
              </a:defRPr>
            </a:pPr>
            <a:r>
              <a:t>ctx.tell()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0000" y="4550000"/>
            <a:ext cx="8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— fire-and-forget command across aggregate boundaries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0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  <a:latin typeface="SF Mono"/>
              </a:defRPr>
            </a:pPr>
            <a:r>
              <a:t>ctx.sync()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0000" y="5100000"/>
            <a:ext cx="8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— call external system, result comes back as a command (callback pattern)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50000"/>
            <a:ext cx="28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66AA"/>
                </a:solidFill>
              </a:defRPr>
            </a:pPr>
            <a:r>
              <a:t>Key principle: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0000" y="5650000"/>
            <a:ext cx="8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444444"/>
                </a:solidFill>
              </a:defRPr>
            </a:pPr>
            <a:r>
              <a:t>— commands cross boundaries, events stay within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400" b="1">
                <a:solidFill>
                  <a:srgbClr val="66BB6A"/>
                </a:solidFill>
              </a:defRPr>
            </a:pPr>
            <a:r>
              <a:t>EXERCISE 2: ORDER +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6BB6A"/>
                </a:solidFill>
              </a:defRPr>
            </a:pPr>
            <a:r>
              <a:t>Order (given — study this first)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PlaceOrder → persists OrderPlaced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→ tells Payment to Charge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→ waits for ConfirmPayment / RejectPayment callback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266AA"/>
                </a:solidFill>
              </a:defRPr>
            </a:pPr>
            <a:r>
              <a:t>Payment (you build)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0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Charge → persist ChargeRequested → ctx.sync(gateway)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8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ChargeSucceeded → persist + ctx.tell(Order, ConfirmPayment)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6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ChargeFailed → persist + ctx.tell(Order, RejectPayment)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40000"/>
            <a:ext cx="10728655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222222"/>
                </a:solidFill>
              </a:defRPr>
            </a:pPr>
            <a:r>
              <a:t>• GetStatus → reply with current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00000"/>
            <a:ext cx="8500000" cy="500000"/>
          </a:xfrm>
          <a:prstGeom prst="roundRect">
            <a:avLst>
              <a:gd name="adj" fmla="val 2000"/>
            </a:avLst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52400" rIns="203200" bIns="152400"/>
          <a:lstStyle/>
          <a:p>
            <a:pPr algn="ctr">
              <a:defRPr sz="1600">
                <a:solidFill>
                  <a:srgbClr val="FFFFFF"/>
                </a:solidFill>
                <a:latin typeface="SF Mono"/>
              </a:defRPr>
            </a:pPr>
            <a:r>
              <a:t>npx vitest run workshop/exercise2-order-payment/payment.test.ts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0000" y="5650000"/>
            <a:ext cx="3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66BB6A"/>
                </a:solidFill>
              </a:defRPr>
            </a:pPr>
            <a:r>
              <a:t>7 tests: 5 unit</a:t>
            </a:r>
            <a:br/>
            <a:r>
              <a:t>+ 2 integration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00000"/>
            <a:ext cx="10728655" cy="10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66BB6A"/>
                </a:solidFill>
              </a:defRPr>
            </a:pPr>
            <a:r>
              <a:t>EXERCISE 2: ORDER + PAYMENT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00000"/>
            <a:ext cx="10728655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888888"/>
                </a:solidFill>
              </a:defRPr>
            </a:pPr>
            <a:r>
              <a:t>35 minutes  •  7 tests  •  implement Payment decide()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66BB6A"/>
                </a:solidFill>
                <a:latin typeface="SF Mono"/>
              </a:defRPr>
            </a:pPr>
            <a:r>
              <a:t>npx vitest run workshop/exercise2-order-payment/payment.test.ts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888888"/>
                </a:solidFill>
              </a:defRPr>
            </a:pPr>
            <a:r>
              <a:t>Study order.ts first  •  Start with GetStatus  •  HINTS.md if stuck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EXERCISE 2: DEBRIEF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222222"/>
                </a:solidFill>
              </a:defRPr>
            </a:pPr>
            <a:r>
              <a:t>What just happened in the integration test: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2266AA"/>
                </a:solidFill>
                <a:latin typeface="SF Mono"/>
              </a:defRPr>
            </a:pPr>
            <a:r>
              <a:t>1.  runtime.ask(order, PlaceOrder)  →  OrderPlaced persisted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3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66BB6A"/>
                </a:solidFill>
                <a:latin typeface="SF Mono"/>
              </a:defRPr>
            </a:pPr>
            <a:r>
              <a:t>2.  Order.andRun()  →  ctx.tell(Payment, Charge)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6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2266AA"/>
                </a:solidFill>
                <a:latin typeface="SF Mono"/>
              </a:defRPr>
            </a:pPr>
            <a:r>
              <a:t>3.  Payment.decide(Charge)  →  ChargeRequested persisted  →  ctx.sync(gateway)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66BB6A"/>
                </a:solidFill>
                <a:latin typeface="SF Mono"/>
              </a:defRPr>
            </a:pPr>
            <a:r>
              <a:t>4.  Gateway returns  →  ChargeSucceeded command delivered to Payment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2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2266AA"/>
                </a:solidFill>
                <a:latin typeface="SF Mono"/>
              </a:defRPr>
            </a:pPr>
            <a:r>
              <a:t>5.  Payment.decide(ChargeSucceeded)  →  ChargeCompleted persisted  →  ctx.tell(Order, ConfirmPayment)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5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66BB6A"/>
                </a:solidFill>
                <a:latin typeface="SF Mono"/>
              </a:defRPr>
            </a:pPr>
            <a:r>
              <a:t>6.  Order.decide(ConfirmPayment)  →  PaymentConfirmed persisted  →  status: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222222"/>
                </a:solidFill>
              </a:defRPr>
            </a:pPr>
            <a:r>
              <a:t>Two aggregates, one runtime, full async flow — zero infrastructure code in your domain.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THE FULL PICTURE: BACKEND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00000"/>
            <a:ext cx="2500000" cy="8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Your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0000" y="1900000"/>
            <a:ext cx="8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Aggregates (decide + apply), Projections, Sagas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00000"/>
            <a:ext cx="2500000" cy="8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TEOB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0000" y="3000000"/>
            <a:ext cx="8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Effect system, Runtime, Codecs, TestKit, CLI scaffolding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00000"/>
            <a:ext cx="2500000" cy="8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0000" y="4100000"/>
            <a:ext cx="8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In-memory → SQLite → PostgreSQL (swap without code changes)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00000"/>
            <a:ext cx="2500000" cy="800000"/>
          </a:xfrm>
          <a:prstGeom prst="roundRect">
            <a:avLst>
              <a:gd name="adj" fmla="val 5000"/>
            </a:avLst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0000" y="5200000"/>
            <a:ext cx="80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222222"/>
                </a:solidFill>
              </a:defRPr>
            </a:pPr>
            <a:r>
              <a:t>Health checks, OpenTelemetry, auto-generated REST/OpenAPI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BATTLE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Natively CQS — for (almost) infinite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FP and DDD — to express intrinsically complex data and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Everything is executed deterministically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00000"/>
            <a:ext cx="10728655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100" b="1">
                <a:solidFill>
                  <a:srgbClr val="222222"/>
                </a:solidFill>
              </a:defRPr>
            </a:pPr>
            <a:r>
              <a:t>• 10+ years of real production (fintech) experience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DSL- AND AI-FRIENDLY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00000"/>
            <a:ext cx="10728655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Native DSLs built on top (e.g. Petri Net flow modeling)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00000"/>
            <a:ext cx="10728655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Pure, concise, testable logics — ideal for AI code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000"/>
            <a:ext cx="10728655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Zero boilerplate, no 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00000"/>
            <a:ext cx="10728655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Small, manageable contexts digestible by LLMs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00000"/>
            <a:ext cx="10728655" cy="7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900" b="0">
                <a:solidFill>
                  <a:srgbClr val="222222"/>
                </a:solidFill>
              </a:defRPr>
            </a:pPr>
            <a:r>
              <a:t>• CLI scaffolding: teob new aggregate / projection / flow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22222"/>
                </a:solidFill>
              </a:defRPr>
            </a:pPr>
            <a:r>
              <a:t>TEOB AGENTIC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728655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444444"/>
                </a:solidFill>
              </a:defRPr>
            </a:pPr>
            <a:r>
              <a:t>What happens when your aggregate IS an AI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00000"/>
            <a:ext cx="10728655" cy="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LLM integration — OpenAI, OpenRouter, any 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0000"/>
            <a:ext cx="10728655" cy="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MCP tool registry with permission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00000"/>
            <a:ext cx="10728655" cy="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RAG knowledge search (pgvector)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50000"/>
            <a:ext cx="10728655" cy="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Cross-session agent memory (event-sourced, naturally)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00000"/>
            <a:ext cx="10728655" cy="6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222222"/>
                </a:solidFill>
              </a:defRPr>
            </a:pPr>
            <a:r>
              <a:t>• Crash-resilient: agent state survives restarts — it's just events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0000"/>
            <a:ext cx="10728655" cy="8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WHAT'S NEXT?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00000"/>
            <a:ext cx="10728655" cy="36000"/>
          </a:xfrm>
          <a:prstGeom prst="rect">
            <a:avLst/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1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0000" y="21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0000" y="24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github.com/timur/teob-ts  (npm install &amp;&amp; npm test)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29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Try Exercise 3 at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32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Projections — build a read model from gift card 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22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7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Scaffold your own aggregate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0000" y="40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npx teob new aggregate  — working code in seconds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0000" y="45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Watch the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0000" y="48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Link will be shared — includes solution walkthroughs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0000"/>
            <a:ext cx="400000" cy="400000"/>
          </a:xfrm>
          <a:prstGeom prst="roundRect">
            <a:avLst>
              <a:gd name="adj" fmla="val 5000"/>
            </a:avLst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0000" y="5300000"/>
            <a:ext cx="50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Join the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0000" y="5650000"/>
            <a:ext cx="10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888888"/>
                </a:solidFill>
              </a:defRPr>
            </a:pPr>
            <a:r>
              <a:t>Questions, feedback, next workshop announcements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00000"/>
            <a:ext cx="10728655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Thank you!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