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0:00–0:05</a:t>
            </a:r>
          </a:p>
          <a:p>
            <a:r>
              <a:t>Welcome everyone. Before slides — ask the room:</a:t>
            </a:r>
          </a:p>
          <a:p>
            <a:r>
              <a:t>"What broke in your last distributed system?"</a:t>
            </a:r>
          </a:p>
          <a:p>
            <a:r>
              <a:t>Let 2-3 people share war stories. This primes them for why DDD + ES matters.</a:t>
            </a:r>
          </a:p>
          <a:p>
            <a:r>
              <a:t>Then: "Today you'll build a complete event-sourced gift card service."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0:05–0:08</a:t>
            </a:r>
          </a:p>
          <a:p>
            <a:r>
              <a:t>"One domain — gift cards. Four layers of capability."</a:t>
            </a:r>
          </a:p>
          <a:p>
            <a:r>
              <a:t>"You'll write code for 1 and 3. I'll demo 2 and 4."</a:t>
            </a:r>
          </a:p>
          <a:p>
            <a:r>
              <a:t>"By the end you'll have a running HTTP service with AI integration."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0:08–0:10</a:t>
            </a:r>
          </a:p>
          <a:p>
            <a:r>
              <a:t>This calibrates your depth.</a:t>
            </a:r>
          </a:p>
          <a:p>
            <a:r>
              <a:t>If most have DDD experience → skip basics, go deeper on TEOB specifics.</a:t>
            </a:r>
          </a:p>
          <a:p>
            <a:r>
              <a:t>If Akka/Axon users → draw parallels throughout.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0:10–0:12</a:t>
            </a:r>
          </a:p>
          <a:p>
            <a:r>
              <a:t>"Green blocks = you write code. Blue/purple = I demo live."</a:t>
            </a:r>
          </a:p>
          <a:p>
            <a:r>
              <a:t>"One domain all the way through — each layer builds on the last."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0:12–0:16</a:t>
            </a:r>
          </a:p>
          <a:p>
            <a:r>
              <a:t>"This is what most of us build day to day."</a:t>
            </a:r>
          </a:p>
          <a:p>
            <a:r>
              <a:t>Don't dwell — this is the setup for why ES is different.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0:16–0:18</a:t>
            </a:r>
          </a:p>
          <a:p>
            <a:r>
              <a:t>"What if we could have ALL of these?"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0:18–0:20</a:t>
            </a:r>
          </a:p>
          <a:p>
            <a:r>
              <a:t>"You'll implement exactly this pattern in 15 minutes."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0:20–0:23</a:t>
            </a:r>
          </a:p>
          <a:p>
            <a:r>
              <a:t>"Instead of updating a row, we append facts."</a:t>
            </a:r>
          </a:p>
          <a:p>
            <a:r>
              <a:t>Draw parallel to git: commits are events, working directory is state.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0:23–0:27</a:t>
            </a:r>
          </a:p>
          <a:p>
            <a:r>
              <a:t>THIS IS THE CORE MENTAL MODEL. Spend time here.</a:t>
            </a:r>
          </a:p>
          <a:p>
            <a:r>
              <a:t>"decide() is WHERE your business logic lives."</a:t>
            </a:r>
          </a:p>
          <a:p>
            <a:r>
              <a:t>"apply() is PURE — no logic, just state transitions."</a:t>
            </a:r>
          </a:p>
          <a:p>
            <a:r>
              <a:t>Ask: "Why can't we put logic in apply?" → Because replay would re-validate.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0:27–0:30</a:t>
            </a:r>
          </a:p>
          <a:p>
            <a:r>
              <a:t>Highlight persist + andReply — they'll use these in Exercise 1.</a:t>
            </a:r>
          </a:p>
          <a:p>
            <a:r>
              <a:t>Mention andRun — they'll see it in the LLM demo.</a:t>
            </a:r>
          </a:p>
          <a:p>
            <a:r>
              <a:t>"decide returns a recipe, the runtime executes it."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0:30–0:33</a:t>
            </a:r>
          </a:p>
          <a:p>
            <a:r>
              <a:t>THIS IS THE KEY DIAGRAM. Walk through each step:</a:t>
            </a:r>
          </a:p>
          <a:p>
            <a:r>
              <a:t>1. "Command arrives in the entity's inbox"</a:t>
            </a:r>
          </a:p>
          <a:p>
            <a:r>
              <a:t>2. "decide() looks at state + command, returns an Effect recipe"</a:t>
            </a:r>
          </a:p>
          <a:p>
            <a:r>
              <a:t>3. "Events get persisted to the journal — append-only, never mutate"</a:t>
            </a:r>
          </a:p>
          <a:p>
            <a:r>
              <a:t>4. "apply() folds events into new state — pure, deterministic"</a:t>
            </a:r>
          </a:p>
          <a:p>
            <a:r>
              <a:t>5. "The Effect executes: reply to caller, OR trigger an async side effect"</a:t>
            </a:r>
          </a:p>
          <a:p>
            <a:r>
              <a:t>"ctx.sync() is the magic — it calls any external service and routes the</a:t>
            </a:r>
          </a:p>
          <a:p>
            <a:r>
              <a:t>result back as a new command. Same loop, same guarantees."</a:t>
            </a:r>
          </a:p>
          <a:p>
            <a:r>
              <a:t>"You'll see this live in the demo: Issue → mock service → SetEncouragement → new event."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0:30–0:35</a:t>
            </a:r>
          </a:p>
          <a:p>
            <a:r>
              <a:t>THE AHA SLIDE. Go row by row.</a:t>
            </a:r>
          </a:p>
          <a:p>
            <a:r>
              <a:t>"If you know DDD, you already know TEOB."</a:t>
            </a:r>
          </a:p>
          <a:p>
            <a:r>
              <a:t>Pause for questions before Exercise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0:35–0:38</a:t>
            </a:r>
          </a:p>
          <a:p>
            <a:r>
              <a:t>"The core is DDD. The extras are what make it practical."</a:t>
            </a:r>
          </a:p>
          <a:p>
            <a:r>
              <a:t>Mention projections — they'll build one in Exercise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0:38–0:40</a:t>
            </a:r>
          </a:p>
          <a:p>
            <a:r>
              <a:t>"Your business logic doesn't know or care about the database."</a:t>
            </a:r>
          </a:p>
          <a:p>
            <a:r>
              <a:t>"In exercises, we use InMemoryRuntime. In production, swap to Postgres."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0:40–0:45</a:t>
            </a:r>
          </a:p>
          <a:p>
            <a:r>
              <a:t>"Before we write code, DDD says we discover the domain first."</a:t>
            </a:r>
          </a:p>
          <a:p>
            <a:r>
              <a:t>"Event Storming is how — sticky notes, a wall, and a conversation."</a:t>
            </a:r>
          </a:p>
          <a:p>
            <a:r>
              <a:t>Point to each colour. Ask the room: "What events happen to a gift card?"</a:t>
            </a:r>
          </a:p>
          <a:p>
            <a:r>
              <a:t>Let them call out events before showing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0:45–0:50</a:t>
            </a:r>
          </a:p>
          <a:p>
            <a:r>
              <a:t>Walk through the board left to right:</a:t>
            </a:r>
          </a:p>
          <a:p>
            <a:r>
              <a:t>1. Commands = user intent (blue)</a:t>
            </a:r>
          </a:p>
          <a:p>
            <a:r>
              <a:t>2. Aggregate = decision maker + rules (yellow)</a:t>
            </a:r>
          </a:p>
          <a:p>
            <a:r>
              <a:t>3. Events = facts that happened (orange)</a:t>
            </a:r>
          </a:p>
          <a:p>
            <a:r>
              <a:t>4. Read Model = query view (green)</a:t>
            </a:r>
          </a:p>
          <a:p>
            <a:r>
              <a:t>"Every sticky note maps directly to a type in your code."</a:t>
            </a:r>
          </a:p>
          <a:p>
            <a:r>
              <a:t>"Now let's implement it."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0:50–0:52</a:t>
            </a:r>
          </a:p>
          <a:p>
            <a:r>
              <a:t>LIVE DEMO: Run tests. Show 14 failing, 2 passing.</a:t>
            </a:r>
          </a:p>
          <a:p>
            <a:r>
              <a:t>"Start with Issue — it's the simplest. The hints are in HINTS-aggregate.md."</a:t>
            </a:r>
          </a:p>
          <a:p>
            <a:r>
              <a:t>"Solution is in aggregate.solution.ts — but try first!"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0:52–1:22 (30 min)</a:t>
            </a:r>
          </a:p>
          <a:p>
            <a:r>
              <a:t>LEAVE THIS SLIDE UP.</a:t>
            </a:r>
          </a:p>
          <a:p>
            <a:r>
              <a:t>At 15 min: "How many tests green? More than 5?"</a:t>
            </a:r>
          </a:p>
          <a:p>
            <a:r>
              <a:t>At 25 min: Live-code Issue case if people are stuck.</a:t>
            </a:r>
          </a:p>
          <a:p>
            <a:r>
              <a:t>At 28 min: "2 minutes left."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1:22–1:27</a:t>
            </a:r>
          </a:p>
          <a:p>
            <a:r>
              <a:t>Live-code the solution if needed.</a:t>
            </a:r>
          </a:p>
          <a:p>
            <a:r>
              <a:t>"No database, no HTTP, no framework setup. Just domain logic."</a:t>
            </a:r>
          </a:p>
          <a:p>
            <a:r>
              <a:t>Ask: "What surprised you?"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1:28–1:31</a:t>
            </a:r>
          </a:p>
          <a:p>
            <a:r>
              <a:t>LIVE DEMO: Run `npm start`, then curl commands.</a:t>
            </a:r>
          </a:p>
          <a:p>
            <a:r>
              <a:t>Show: Issue returns view WITH encouragement.</a:t>
            </a:r>
          </a:p>
          <a:p>
            <a:r>
              <a:t>Show: Redeem updates balance and transactionCount.</a:t>
            </a:r>
          </a:p>
          <a:p>
            <a:r>
              <a:t>Show: rejection → 400 with error message.</a:t>
            </a:r>
          </a:p>
          <a:p>
            <a:r>
              <a:t>"Wait — where did the encouragement come from? Let me show you..."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1:31–1:35</a:t>
            </a:r>
          </a:p>
          <a:p>
            <a:r>
              <a:t>"Remember the event loop from earlier? This is what just happened."</a:t>
            </a:r>
          </a:p>
          <a:p>
            <a:r>
              <a:t>Walk through each arrow:</a:t>
            </a:r>
          </a:p>
          <a:p>
            <a:r>
              <a:t>1. Client POST → HTTP layer maps to Issue command</a:t>
            </a:r>
          </a:p>
          <a:p>
            <a:r>
              <a:t>2. decide() validates, returns persist(Issued) + andRun</a:t>
            </a:r>
          </a:p>
          <a:p>
            <a:r>
              <a:t>3. Issued event saved to journal</a:t>
            </a:r>
          </a:p>
          <a:p>
            <a:r>
              <a:t>4. andRun fires ctx.sync → mock service generates encouragement</a:t>
            </a:r>
          </a:p>
          <a:p>
            <a:r>
              <a:t>5. Result comes back as SetEncouragement COMMAND — back through decide()!</a:t>
            </a:r>
          </a:p>
          <a:p>
            <a:r>
              <a:t>6. decide() handles SetEncouragement → persist(EncouragementSet)</a:t>
            </a:r>
          </a:p>
          <a:p>
            <a:r>
              <a:t>7. Projection rebuilds view from both events</a:t>
            </a:r>
          </a:p>
          <a:p>
            <a:r>
              <a:t>8. HTTP returns the complete view with encouragement</a:t>
            </a:r>
          </a:p>
          <a:p>
            <a:r>
              <a:t>"Same pattern works for real LLM, payment gateway, shipping API."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1:32–1:37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1:37–1:42</a:t>
            </a:r>
          </a:p>
          <a:p>
            <a:r>
              <a:t>"You already know the pattern — apply and evolve are the same shape."</a:t>
            </a:r>
          </a:p>
          <a:p>
            <a:r>
              <a:t>"The difference: evolve builds views optimized for queries, not decisions."</a:t>
            </a:r>
          </a:p>
          <a:p>
            <a:r>
              <a:t>"A view can include transactionCount — something the aggregate doesn't track."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1:42–1:45</a:t>
            </a:r>
          </a:p>
          <a:p>
            <a:r>
              <a:t>"You already know the pattern from apply(). This is the same thing, for queries."</a:t>
            </a:r>
          </a:p>
          <a:p>
            <a:r>
              <a:t>"The key difference: transactionCount. The aggregate doesn't track this — the projection does."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1:45–2:05 (20 min)</a:t>
            </a:r>
          </a:p>
          <a:p>
            <a:r>
              <a:t>This should go faster — they already know the pattern.</a:t>
            </a:r>
          </a:p>
          <a:p>
            <a:r>
              <a:t>At 10 min: Most should have Issued done.</a:t>
            </a:r>
          </a:p>
          <a:p>
            <a:r>
              <a:t>At 15 min: Show Hint 3 (Redeemed with transactionCount).</a:t>
            </a:r>
          </a:p>
          <a:p>
            <a:r>
              <a:t>At 18 min: "2 minutes left."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2:05–2:10</a:t>
            </a:r>
          </a:p>
          <a:p>
            <a:r>
              <a:t>"Three pure functions. That's the entire architecture."</a:t>
            </a:r>
          </a:p>
          <a:p>
            <a:r>
              <a:t>"decide for commands, apply for state, evolve for queries."</a:t>
            </a:r>
          </a:p>
          <a:p>
            <a:r>
              <a:t>"Now something fun — let's get a frontend in 10 minutes."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2:10–2:12</a:t>
            </a:r>
          </a:p>
          <a:p>
            <a:r>
              <a:t>"You've built the backend — aggregate + projection. Now let's get a UI."</a:t>
            </a:r>
          </a:p>
          <a:p>
            <a:r>
              <a:t>"The prompt references openapi.yaml — the AI gets type safety from the spec."</a:t>
            </a:r>
          </a:p>
          <a:p>
            <a:r>
              <a:t>Show PROMPT-frontend.md briefly.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2:12–2:22 (10 min)</a:t>
            </a:r>
          </a:p>
          <a:p>
            <a:r>
              <a:t>LEAVE THIS SLIDE UP.</a:t>
            </a:r>
          </a:p>
          <a:p>
            <a:r>
              <a:t>Walk around — help anyone whose agent produces broken code.</a:t>
            </a:r>
          </a:p>
          <a:p>
            <a:r>
              <a:t>At 5 min: Show the reference solution if people want to compare.</a:t>
            </a:r>
          </a:p>
          <a:p>
            <a:r>
              <a:t>At 8 min: "2 minutes left — make sure npm start works."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2:22–2:32</a:t>
            </a:r>
          </a:p>
          <a:p>
            <a:r>
              <a:t>LIVE DEMO: Run `OPENROUTER_API_KEY=sk-... npm run demo:llm`</a:t>
            </a:r>
          </a:p>
          <a:p>
            <a:r>
              <a:t>Issue a card with a name → show the encouragement appearing.</a:t>
            </a:r>
          </a:p>
          <a:p>
            <a:r>
              <a:t>"ctx.sync() is the same pattern you'd use for ANY external call."</a:t>
            </a:r>
          </a:p>
          <a:p>
            <a:r>
              <a:t>"The LLM result comes back as a command, gets persisted as an event."</a:t>
            </a:r>
          </a:p>
          <a:p>
            <a:r>
              <a:t>"Crash? Replay from journal. Debug? Replay specific steps."</a:t>
            </a:r>
          </a:p>
          <a:p>
            <a:r>
              <a:t>THIS IS THE WOW MOMENT.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2:32–2:35</a:t>
            </a:r>
          </a:p>
          <a:p>
            <a:r>
              <a:t>"You built the green layer (aggregate) and the blue layer (projection)."</a:t>
            </a:r>
          </a:p>
          <a:p>
            <a:r>
              <a:t>"The HTTP layer is a thin REST mapping — commands stay internal."</a:t>
            </a:r>
          </a:p>
          <a:p>
            <a:r>
              <a:t>"To go to production: swap InMemoryRuntime → PostgresRuntime."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2:35–2:37</a:t>
            </a:r>
          </a:p>
          <a:p>
            <a:r>
              <a:t>Credibility slide. Keep brief.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2:37–2:40</a:t>
            </a:r>
          </a:p>
          <a:p>
            <a:r>
              <a:t>"You built an event-sourced service with a read model and AI integration."</a:t>
            </a:r>
          </a:p>
          <a:p>
            <a:r>
              <a:t>"Three pure functions. That's the whole architecture."</a:t>
            </a:r>
          </a:p>
          <a:p>
            <a:r>
              <a:t>Open for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EC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2600000"/>
            <a:ext cx="10728655" cy="36000"/>
          </a:xfrm>
          <a:prstGeom prst="rect">
            <a:avLst/>
          </a:prstGeom>
          <a:solidFill>
            <a:srgbClr val="22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800000"/>
            <a:ext cx="10728655" cy="12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5400" b="1">
                <a:solidFill>
                  <a:srgbClr val="222222"/>
                </a:solidFill>
              </a:defRPr>
            </a:pPr>
            <a:r>
              <a:t>DDD WITH TEOB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000000"/>
            <a:ext cx="10728655" cy="6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200" b="0">
                <a:solidFill>
                  <a:srgbClr val="444444"/>
                </a:solidFill>
              </a:defRPr>
            </a:pPr>
            <a:r>
              <a:t>Hands-On Workshop: Event-Sourced Aggregates in TypeScript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200000"/>
            <a:ext cx="10728655" cy="4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0">
                <a:solidFill>
                  <a:srgbClr val="888888"/>
                </a:solidFill>
              </a:defRPr>
            </a:pPr>
            <a:r>
              <a:t>Tim Evdokimov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EC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8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222222"/>
                </a:solidFill>
              </a:defRPr>
            </a:pPr>
            <a:r>
              <a:t>WHAT YOU'LL BUILD TODAY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00000"/>
            <a:ext cx="10728655" cy="36000"/>
          </a:xfrm>
          <a:prstGeom prst="rect">
            <a:avLst/>
          </a:prstGeom>
          <a:solidFill>
            <a:srgbClr val="22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600000"/>
            <a:ext cx="700000" cy="700000"/>
          </a:xfrm>
          <a:prstGeom prst="roundRect">
            <a:avLst>
              <a:gd name="adj" fmla="val 5000"/>
            </a:avLst>
          </a:prstGeom>
          <a:solidFill>
            <a:srgbClr val="22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00000" y="1650000"/>
            <a:ext cx="9000000" cy="4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400" b="1">
                <a:solidFill>
                  <a:srgbClr val="222222"/>
                </a:solidFill>
              </a:defRPr>
            </a:pPr>
            <a:r>
              <a:t>A DDD aggregate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00000" y="2000000"/>
            <a:ext cx="9000000" cy="3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0">
                <a:solidFill>
                  <a:srgbClr val="444444"/>
                </a:solidFill>
              </a:defRPr>
            </a:pPr>
            <a:r>
              <a:t>commands, events, state, invariants — pure functions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850000"/>
            <a:ext cx="700000" cy="700000"/>
          </a:xfrm>
          <a:prstGeom prst="roundRect">
            <a:avLst>
              <a:gd name="adj" fmla="val 5000"/>
            </a:avLst>
          </a:prstGeom>
          <a:solidFill>
            <a:srgbClr val="22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00000" y="2900000"/>
            <a:ext cx="9000000" cy="4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400" b="1">
                <a:solidFill>
                  <a:srgbClr val="222222"/>
                </a:solidFill>
              </a:defRPr>
            </a:pPr>
            <a:r>
              <a:t>An HTTP service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00000" y="3250000"/>
            <a:ext cx="9000000" cy="3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0">
                <a:solidFill>
                  <a:srgbClr val="444444"/>
                </a:solidFill>
              </a:defRPr>
            </a:pPr>
            <a:r>
              <a:t>your aggregate becomes a live API in one line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100000"/>
            <a:ext cx="700000" cy="700000"/>
          </a:xfrm>
          <a:prstGeom prst="roundRect">
            <a:avLst>
              <a:gd name="adj" fmla="val 5000"/>
            </a:avLst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0000" y="4150000"/>
            <a:ext cx="9000000" cy="4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400" b="1">
                <a:solidFill>
                  <a:srgbClr val="222222"/>
                </a:solidFill>
              </a:defRPr>
            </a:pPr>
            <a:r>
              <a:t>A read model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00000" y="4500000"/>
            <a:ext cx="9000000" cy="3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0">
                <a:solidFill>
                  <a:srgbClr val="444444"/>
                </a:solidFill>
              </a:defRPr>
            </a:pPr>
            <a:r>
              <a:t>project events into query-optimized views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5350000"/>
            <a:ext cx="700000" cy="700000"/>
          </a:xfrm>
          <a:prstGeom prst="roundRect">
            <a:avLst>
              <a:gd name="adj" fmla="val 5000"/>
            </a:avLst>
          </a:prstGeom>
          <a:solidFill>
            <a:srgbClr val="9C27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00000" y="5400000"/>
            <a:ext cx="9000000" cy="4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400" b="1">
                <a:solidFill>
                  <a:srgbClr val="222222"/>
                </a:solidFill>
              </a:defRPr>
            </a:pPr>
            <a:r>
              <a:t>LLM integration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00000" y="5750000"/>
            <a:ext cx="9000000" cy="3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0">
                <a:solidFill>
                  <a:srgbClr val="444444"/>
                </a:solidFill>
              </a:defRPr>
            </a:pPr>
            <a:r>
              <a:t>ctx.sync() calls OpenRouter — same pattern as any external API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EC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8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222222"/>
                </a:solidFill>
              </a:defRPr>
            </a:pPr>
            <a:r>
              <a:t>QUICK CHECK — SHOW OF HANDS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00000"/>
            <a:ext cx="10728655" cy="36000"/>
          </a:xfrm>
          <a:prstGeom prst="rect">
            <a:avLst/>
          </a:prstGeom>
          <a:solidFill>
            <a:srgbClr val="22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0000" y="1700000"/>
            <a:ext cx="10000000" cy="6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200" b="0">
                <a:solidFill>
                  <a:srgbClr val="222222"/>
                </a:solidFill>
              </a:defRPr>
            </a:pPr>
            <a:r>
              <a:t>✋  Who has implemented a DDD aggregate before?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0000" y="2600000"/>
            <a:ext cx="10000000" cy="6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200" b="0">
                <a:solidFill>
                  <a:srgbClr val="222222"/>
                </a:solidFill>
              </a:defRPr>
            </a:pPr>
            <a:r>
              <a:t>✋  Who has worked with event sourcing in production?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0000" y="3500000"/>
            <a:ext cx="10000000" cy="6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200" b="0">
                <a:solidFill>
                  <a:srgbClr val="222222"/>
                </a:solidFill>
              </a:defRPr>
            </a:pPr>
            <a:r>
              <a:t>✋  Who writes TypeScript regularly?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0000" y="4400000"/>
            <a:ext cx="10000000" cy="6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200" b="0">
                <a:solidFill>
                  <a:srgbClr val="222222"/>
                </a:solidFill>
              </a:defRPr>
            </a:pPr>
            <a:r>
              <a:t>✋  Who has used Akka, Axon, or EventStoreDB?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EC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8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222222"/>
                </a:solidFill>
              </a:defRPr>
            </a:pPr>
            <a:r>
              <a:t>THE ROAD MAP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00000"/>
            <a:ext cx="10728655" cy="36000"/>
          </a:xfrm>
          <a:prstGeom prst="rect">
            <a:avLst/>
          </a:prstGeom>
          <a:solidFill>
            <a:srgbClr val="22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15847" y="2200000"/>
            <a:ext cx="1200000" cy="1800000"/>
          </a:xfrm>
          <a:prstGeom prst="roundRect">
            <a:avLst>
              <a:gd name="adj" fmla="val 5000"/>
            </a:avLst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Theory:</a:t>
            </a:r>
            <a:br/>
            <a:r>
              <a:t>ES + DDD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5847" y="4200000"/>
            <a:ext cx="1200000" cy="400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100" b="0">
                <a:solidFill>
                  <a:srgbClr val="888888"/>
                </a:solidFill>
              </a:defRPr>
            </a:pPr>
            <a:r>
              <a:t>20 min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295847" y="2200000"/>
            <a:ext cx="1200000" cy="1800000"/>
          </a:xfrm>
          <a:prstGeom prst="roundRect">
            <a:avLst>
              <a:gd name="adj" fmla="val 5000"/>
            </a:avLst>
          </a:prstGeom>
          <a:solidFill>
            <a:srgbClr val="FFA7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Event</a:t>
            </a:r>
            <a:br/>
            <a:r>
              <a:t>Storming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95847" y="4200000"/>
            <a:ext cx="1200000" cy="400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100" b="0">
                <a:solidFill>
                  <a:srgbClr val="888888"/>
                </a:solidFill>
              </a:defRPr>
            </a:pPr>
            <a:r>
              <a:t>10 min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75847" y="2200000"/>
            <a:ext cx="1200000" cy="1800000"/>
          </a:xfrm>
          <a:prstGeom prst="roundRect">
            <a:avLst>
              <a:gd name="adj" fmla="val 5000"/>
            </a:avLst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Exercise 1:</a:t>
            </a:r>
            <a:br/>
            <a:r>
              <a:t>Aggregate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75847" y="4200000"/>
            <a:ext cx="1200000" cy="400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100" b="0">
                <a:solidFill>
                  <a:srgbClr val="888888"/>
                </a:solidFill>
              </a:defRPr>
            </a:pPr>
            <a:r>
              <a:t>30 min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55847" y="2200000"/>
            <a:ext cx="1200000" cy="1800000"/>
          </a:xfrm>
          <a:prstGeom prst="roundRect">
            <a:avLst>
              <a:gd name="adj" fmla="val 5000"/>
            </a:avLst>
          </a:prstGeom>
          <a:solidFill>
            <a:srgbClr val="22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Demo:</a:t>
            </a:r>
            <a:br/>
            <a:r>
              <a:t>HTTP + API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55847" y="4200000"/>
            <a:ext cx="1200000" cy="400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100" b="0">
                <a:solidFill>
                  <a:srgbClr val="888888"/>
                </a:solidFill>
              </a:defRPr>
            </a:pPr>
            <a:r>
              <a:t>5 min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35847" y="2200000"/>
            <a:ext cx="1200000" cy="1800000"/>
          </a:xfrm>
          <a:prstGeom prst="roundRect">
            <a:avLst>
              <a:gd name="adj" fmla="val 5000"/>
            </a:avLst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Exercise 2:</a:t>
            </a:r>
            <a:br/>
            <a:r>
              <a:t>Projection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35847" y="4200000"/>
            <a:ext cx="1200000" cy="400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100" b="0">
                <a:solidFill>
                  <a:srgbClr val="888888"/>
                </a:solidFill>
              </a:defRPr>
            </a:pPr>
            <a:r>
              <a:t>20 min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15847" y="2200000"/>
            <a:ext cx="1200000" cy="1800000"/>
          </a:xfrm>
          <a:prstGeom prst="roundRect">
            <a:avLst>
              <a:gd name="adj" fmla="val 5000"/>
            </a:avLst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Exercise 3:</a:t>
            </a:r>
            <a:br/>
            <a:r>
              <a:t>AI Frontend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15847" y="4200000"/>
            <a:ext cx="1200000" cy="400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100" b="0">
                <a:solidFill>
                  <a:srgbClr val="888888"/>
                </a:solidFill>
              </a:defRPr>
            </a:pPr>
            <a:r>
              <a:t>10 min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95847" y="2200000"/>
            <a:ext cx="1200000" cy="1800000"/>
          </a:xfrm>
          <a:prstGeom prst="roundRect">
            <a:avLst>
              <a:gd name="adj" fmla="val 5000"/>
            </a:avLst>
          </a:prstGeom>
          <a:solidFill>
            <a:srgbClr val="9C27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Demo:</a:t>
            </a:r>
            <a:br/>
            <a:r>
              <a:t>LLM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95847" y="4200000"/>
            <a:ext cx="1200000" cy="400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100" b="0">
                <a:solidFill>
                  <a:srgbClr val="888888"/>
                </a:solidFill>
              </a:defRPr>
            </a:pPr>
            <a:r>
              <a:t>10 min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975847" y="2200000"/>
            <a:ext cx="1200000" cy="1800000"/>
          </a:xfrm>
          <a:prstGeom prst="roundRect">
            <a:avLst>
              <a:gd name="adj" fmla="val 5000"/>
            </a:avLst>
          </a:prstGeom>
          <a:solidFill>
            <a:srgbClr val="FFA7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Next</a:t>
            </a:r>
            <a:br/>
            <a:r>
              <a:t>Steps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975847" y="4200000"/>
            <a:ext cx="1200000" cy="400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100" b="0">
                <a:solidFill>
                  <a:srgbClr val="888888"/>
                </a:solidFill>
              </a:defRPr>
            </a:pPr>
            <a:r>
              <a:t>5 min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200000"/>
            <a:ext cx="10728655" cy="600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600" b="0">
                <a:solidFill>
                  <a:srgbClr val="444444"/>
                </a:solidFill>
              </a:defRPr>
            </a:pPr>
            <a:r>
              <a:t>~2.5 hours  •  One domain (gift cards)  •  Three exercises + two live demos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EC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8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222222"/>
                </a:solidFill>
              </a:defRPr>
            </a:pPr>
            <a:r>
              <a:t>TRADITIONAL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00000"/>
            <a:ext cx="10728655" cy="36000"/>
          </a:xfrm>
          <a:prstGeom prst="rect">
            <a:avLst/>
          </a:prstGeom>
          <a:solidFill>
            <a:srgbClr val="22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000"/>
            <a:ext cx="5500000" cy="4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200" b="1">
                <a:solidFill>
                  <a:srgbClr val="222222"/>
                </a:solidFill>
              </a:defRPr>
            </a:pPr>
            <a:r>
              <a:t>Primary state: in database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00000"/>
            <a:ext cx="10728655" cy="38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700" b="0">
                <a:solidFill>
                  <a:srgbClr val="444444"/>
                </a:solidFill>
              </a:defRPr>
            </a:pPr>
            <a:r>
              <a:t>• Database as source of truth: updates in place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80000"/>
            <a:ext cx="10728655" cy="38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700" b="0">
                <a:solidFill>
                  <a:srgbClr val="444444"/>
                </a:solidFill>
              </a:defRPr>
            </a:pPr>
            <a:r>
              <a:t>• Many clients, larger states, frequent updates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60000"/>
            <a:ext cx="10728655" cy="38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700" b="0">
                <a:solidFill>
                  <a:srgbClr val="444444"/>
                </a:solidFill>
              </a:defRPr>
            </a:pPr>
            <a:r>
              <a:t>• Locks and I/O overhead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340000"/>
            <a:ext cx="10728655" cy="38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700" b="0">
                <a:solidFill>
                  <a:srgbClr val="444444"/>
                </a:solidFill>
              </a:defRPr>
            </a:pPr>
            <a:r>
              <a:t>• Single master doesn't scale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20000"/>
            <a:ext cx="10728655" cy="38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700" b="0">
                <a:solidFill>
                  <a:srgbClr val="444444"/>
                </a:solidFill>
              </a:defRPr>
            </a:pPr>
            <a:r>
              <a:t>• Caching??...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EC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8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222222"/>
                </a:solidFill>
              </a:defRPr>
            </a:pPr>
            <a:r>
              <a:t>WHAT MAKES AN IDEAL BACKEND?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00000"/>
            <a:ext cx="10728655" cy="36000"/>
          </a:xfrm>
          <a:prstGeom prst="rect">
            <a:avLst/>
          </a:prstGeom>
          <a:solidFill>
            <a:srgbClr val="22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0000" y="1700000"/>
            <a:ext cx="5500000" cy="4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100" b="1">
                <a:solidFill>
                  <a:srgbClr val="2266AA"/>
                </a:solidFill>
              </a:defRPr>
            </a:pPr>
            <a:r>
              <a:t>(Almost) infinitely scalable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00000" y="1730000"/>
            <a:ext cx="5000000" cy="4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0">
                <a:solidFill>
                  <a:srgbClr val="444444"/>
                </a:solidFill>
              </a:defRPr>
            </a:pPr>
            <a:r>
              <a:t>No single master, no locks needed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0000" y="2550000"/>
            <a:ext cx="5500000" cy="4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100" b="1">
                <a:solidFill>
                  <a:srgbClr val="2266AA"/>
                </a:solidFill>
              </a:defRPr>
            </a:pPr>
            <a:r>
              <a:t>Lowest latency possible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00000" y="2580000"/>
            <a:ext cx="5000000" cy="4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0">
                <a:solidFill>
                  <a:srgbClr val="444444"/>
                </a:solidFill>
              </a:defRPr>
            </a:pPr>
            <a:r>
              <a:t>Primary state in memory, not on disk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0000" y="3400000"/>
            <a:ext cx="5500000" cy="4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100" b="1">
                <a:solidFill>
                  <a:srgbClr val="2266AA"/>
                </a:solidFill>
              </a:defRPr>
            </a:pPr>
            <a:r>
              <a:t>Always deterministic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00000" y="3430000"/>
            <a:ext cx="5000000" cy="4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0">
                <a:solidFill>
                  <a:srgbClr val="444444"/>
                </a:solidFill>
              </a:defRPr>
            </a:pPr>
            <a:r>
              <a:t>Durability, ordering, integrity guarantees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4250000"/>
            <a:ext cx="5500000" cy="4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100" b="1">
                <a:solidFill>
                  <a:srgbClr val="2266AA"/>
                </a:solidFill>
              </a:defRPr>
            </a:pPr>
            <a:r>
              <a:t>Transparent, auditable logics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00000" y="4280000"/>
            <a:ext cx="5000000" cy="4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0">
                <a:solidFill>
                  <a:srgbClr val="444444"/>
                </a:solidFill>
              </a:defRPr>
            </a:pPr>
            <a:r>
              <a:t>Every state change is an event you can replay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0000" y="5100000"/>
            <a:ext cx="5500000" cy="4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100" b="1">
                <a:solidFill>
                  <a:srgbClr val="2266AA"/>
                </a:solidFill>
              </a:defRPr>
            </a:pPr>
            <a:r>
              <a:t>Below complexity barrier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00000" y="5130000"/>
            <a:ext cx="5000000" cy="4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0">
                <a:solidFill>
                  <a:srgbClr val="444444"/>
                </a:solidFill>
              </a:defRPr>
            </a:pPr>
            <a:r>
              <a:t>Express intent, not infrastructure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EC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8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222222"/>
                </a:solidFill>
              </a:defRPr>
            </a:pPr>
            <a:r>
              <a:t>COMPLETE BEHAVIOUR: DATA + LOGICS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00000"/>
            <a:ext cx="10728655" cy="36000"/>
          </a:xfrm>
          <a:prstGeom prst="rect">
            <a:avLst/>
          </a:prstGeom>
          <a:solidFill>
            <a:srgbClr val="22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000"/>
            <a:ext cx="10728655" cy="5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900" b="0">
                <a:solidFill>
                  <a:srgbClr val="444444"/>
                </a:solidFill>
              </a:defRPr>
            </a:pPr>
            <a:r>
              <a:t>Business entities: orders, transactions, customers, digital twins...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300000"/>
            <a:ext cx="10728655" cy="4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900" b="1">
                <a:solidFill>
                  <a:srgbClr val="222222"/>
                </a:solidFill>
              </a:defRPr>
            </a:pPr>
            <a:r>
              <a:t>Own state and interactions with the world — fully covered: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000000"/>
            <a:ext cx="10728655" cy="5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0">
                <a:solidFill>
                  <a:srgbClr val="222222"/>
                </a:solidFill>
              </a:defRPr>
            </a:pPr>
            <a:r>
              <a:t>• Incoming messages (commands) + immediate replies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500000"/>
            <a:ext cx="10728655" cy="5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0">
                <a:solidFill>
                  <a:srgbClr val="222222"/>
                </a:solidFill>
              </a:defRPr>
            </a:pPr>
            <a:r>
              <a:t>• State changes (events applied to state)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000000"/>
            <a:ext cx="10728655" cy="5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0">
                <a:solidFill>
                  <a:srgbClr val="222222"/>
                </a:solidFill>
              </a:defRPr>
            </a:pPr>
            <a:r>
              <a:t>• External effect calls (to other systems, LLMs, databases...)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500000"/>
            <a:ext cx="10728655" cy="5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0">
                <a:solidFill>
                  <a:srgbClr val="222222"/>
                </a:solidFill>
              </a:defRPr>
            </a:pPr>
            <a:r>
              <a:t>• Deferred replies and scheduled timers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EC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8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222222"/>
                </a:solidFill>
              </a:defRPr>
            </a:pPr>
            <a:r>
              <a:t>EVENT SOURCING: THE IDEA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00000"/>
            <a:ext cx="10728655" cy="36000"/>
          </a:xfrm>
          <a:prstGeom prst="rect">
            <a:avLst/>
          </a:prstGeom>
          <a:solidFill>
            <a:srgbClr val="22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000"/>
            <a:ext cx="5000000" cy="4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200" b="1">
                <a:solidFill>
                  <a:srgbClr val="222222"/>
                </a:solidFill>
              </a:defRPr>
            </a:pPr>
            <a:r>
              <a:t>Primary state: in memory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00000"/>
            <a:ext cx="10728655" cy="38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700" b="0">
                <a:solidFill>
                  <a:srgbClr val="444444"/>
                </a:solidFill>
              </a:defRPr>
            </a:pPr>
            <a:r>
              <a:t>• Log of updates (journal) as source of truth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80000"/>
            <a:ext cx="10728655" cy="38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700" b="0">
                <a:solidFill>
                  <a:srgbClr val="444444"/>
                </a:solidFill>
              </a:defRPr>
            </a:pPr>
            <a:r>
              <a:t>• Stream — append-only, immutable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60000"/>
            <a:ext cx="10728655" cy="38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700" b="0">
                <a:solidFill>
                  <a:srgbClr val="444444"/>
                </a:solidFill>
              </a:defRPr>
            </a:pPr>
            <a:r>
              <a:t>• Never in-place updates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340000"/>
            <a:ext cx="10728655" cy="38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700" b="0">
                <a:solidFill>
                  <a:srgbClr val="444444"/>
                </a:solidFill>
              </a:defRPr>
            </a:pPr>
            <a:r>
              <a:t>• No locks, no I/O overhead — scales!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00000" y="1500000"/>
            <a:ext cx="4000000" cy="400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600" b="1">
                <a:solidFill>
                  <a:srgbClr val="2266AA"/>
                </a:solidFill>
              </a:defRPr>
            </a:pPr>
            <a:r>
              <a:t>Event Journal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00000" y="2000000"/>
            <a:ext cx="3200000" cy="420000"/>
          </a:xfrm>
          <a:prstGeom prst="roundRect">
            <a:avLst>
              <a:gd name="adj" fmla="val 5000"/>
            </a:avLst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6BB6A"/>
                </a:solidFill>
              </a:defRPr>
            </a:pPr>
            <a:r>
              <a:t>#1  CardIssued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00000" y="2550000"/>
            <a:ext cx="3200000" cy="420000"/>
          </a:xfrm>
          <a:prstGeom prst="roundRect">
            <a:avLst>
              <a:gd name="adj" fmla="val 5000"/>
            </a:avLst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6BB6A"/>
                </a:solidFill>
              </a:defRPr>
            </a:pPr>
            <a:r>
              <a:t>#2  CardRedeemed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00000" y="3100000"/>
            <a:ext cx="3200000" cy="420000"/>
          </a:xfrm>
          <a:prstGeom prst="roundRect">
            <a:avLst>
              <a:gd name="adj" fmla="val 5000"/>
            </a:avLst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6BB6A"/>
                </a:solidFill>
              </a:defRPr>
            </a:pPr>
            <a:r>
              <a:t>#3  CardRedeemed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00000" y="3650000"/>
            <a:ext cx="3200000" cy="420000"/>
          </a:xfrm>
          <a:prstGeom prst="roundRect">
            <a:avLst>
              <a:gd name="adj" fmla="val 5000"/>
            </a:avLst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6BB6A"/>
                </a:solidFill>
              </a:defRPr>
            </a:pPr>
            <a:r>
              <a:t>#4  CardCancelled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00000" y="4300000"/>
            <a:ext cx="3600000" cy="400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0">
                <a:solidFill>
                  <a:srgbClr val="888888"/>
                </a:solidFill>
              </a:defRPr>
            </a:pPr>
            <a:r>
              <a:t>→ append only, never mutate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EC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8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222222"/>
                </a:solidFill>
              </a:defRPr>
            </a:pPr>
            <a:r>
              <a:t>PURE EVENT SOURCING: THE CORE LOOP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00000"/>
            <a:ext cx="10728655" cy="36000"/>
          </a:xfrm>
          <a:prstGeom prst="rect">
            <a:avLst/>
          </a:prstGeom>
          <a:solidFill>
            <a:srgbClr val="22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600000"/>
            <a:ext cx="6000000" cy="3400000"/>
          </a:xfrm>
          <a:prstGeom prst="roundRect">
            <a:avLst>
              <a:gd name="adj" fmla="val 2000"/>
            </a:avLst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tIns="152400" rIns="203200" bIns="152400"/>
          <a:lstStyle/>
          <a:p>
            <a:pPr algn="ctr">
              <a:defRPr sz="1700">
                <a:solidFill>
                  <a:srgbClr val="FFFFFF"/>
                </a:solidFill>
                <a:latin typeface="SF Mono"/>
              </a:defRPr>
            </a:pPr>
            <a:r>
              <a:t>decide(State, Command) → Effect&lt;Event, Reply&gt;</a:t>
            </a:r>
            <a:br/>
            <a:br/>
            <a:r>
              <a:t>  → validate command against current state</a:t>
            </a:r>
            <a:br/>
            <a:r>
              <a:t>  → produce events (or reject)</a:t>
            </a:r>
            <a:br/>
            <a:r>
              <a:t>  → optionally reply to caller</a:t>
            </a:r>
            <a:br/>
            <a:br/>
            <a:r>
              <a:t>apply(State, Event) → State</a:t>
            </a:r>
            <a:br/>
            <a:br/>
            <a:r>
              <a:t>  → pure fold: no logic, just data transformation</a:t>
            </a:r>
            <a:br/>
            <a:r>
              <a:t>  → used for replay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00000" y="1600000"/>
            <a:ext cx="2400000" cy="600000"/>
          </a:xfrm>
          <a:prstGeom prst="roundRect">
            <a:avLst>
              <a:gd name="adj" fmla="val 5000"/>
            </a:avLst>
          </a:prstGeom>
          <a:solidFill>
            <a:srgbClr val="22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Command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0" y="2300000"/>
            <a:ext cx="600000" cy="400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800" b="1">
                <a:solidFill>
                  <a:srgbClr val="444444"/>
                </a:solidFill>
              </a:defRPr>
            </a:pPr>
            <a:r>
              <a:t>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00000" y="2700000"/>
            <a:ext cx="2400000" cy="600000"/>
          </a:xfrm>
          <a:prstGeom prst="roundRect">
            <a:avLst>
              <a:gd name="adj" fmla="val 5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decide()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00000" y="3400000"/>
            <a:ext cx="600000" cy="400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800" b="1">
                <a:solidFill>
                  <a:srgbClr val="444444"/>
                </a:solidFill>
              </a:defRPr>
            </a:pPr>
            <a:r>
              <a:t>↓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00000" y="3800000"/>
            <a:ext cx="2400000" cy="600000"/>
          </a:xfrm>
          <a:prstGeom prst="roundRect">
            <a:avLst>
              <a:gd name="adj" fmla="val 5000"/>
            </a:avLst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Event(s)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00000" y="4500000"/>
            <a:ext cx="600000" cy="400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800" b="1">
                <a:solidFill>
                  <a:srgbClr val="444444"/>
                </a:solidFill>
              </a:defRPr>
            </a:pPr>
            <a:r>
              <a:t>↓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00000" y="4900000"/>
            <a:ext cx="2400000" cy="600000"/>
          </a:xfrm>
          <a:prstGeom prst="roundRect">
            <a:avLst>
              <a:gd name="adj" fmla="val 5000"/>
            </a:avLst>
          </a:prstGeom>
          <a:solidFill>
            <a:srgbClr val="FFA7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apply() → State'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EC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8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222222"/>
                </a:solidFill>
              </a:defRPr>
            </a:pPr>
            <a:r>
              <a:t>EVENT SOURCING: EFFECTS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00000"/>
            <a:ext cx="10728655" cy="36000"/>
          </a:xfrm>
          <a:prstGeom prst="rect">
            <a:avLst/>
          </a:prstGeom>
          <a:solidFill>
            <a:srgbClr val="22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000"/>
            <a:ext cx="10728655" cy="4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0">
                <a:solidFill>
                  <a:srgbClr val="444444"/>
                </a:solidFill>
              </a:defRPr>
            </a:pPr>
            <a:r>
              <a:t>decide() returns an Effect describing what should happen: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300000"/>
            <a:ext cx="4800000" cy="500000"/>
          </a:xfrm>
          <a:prstGeom prst="roundRect">
            <a:avLst>
              <a:gd name="adj" fmla="val 2000"/>
            </a:avLst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tIns="152400" rIns="203200" bIns="152400"/>
          <a:lstStyle/>
          <a:p>
            <a:pPr algn="ctr">
              <a:defRPr sz="1500">
                <a:solidFill>
                  <a:srgbClr val="FFFFFF"/>
                </a:solidFill>
                <a:latin typeface="SF Mono"/>
              </a:defRPr>
            </a:pPr>
            <a:r>
              <a:t>persist(event)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00000" y="2380000"/>
            <a:ext cx="5500000" cy="4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700" b="1">
                <a:solidFill>
                  <a:srgbClr val="2266AA"/>
                </a:solidFill>
              </a:defRPr>
            </a:pPr>
            <a:r>
              <a:t>Store event(s) in the journal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000000"/>
            <a:ext cx="4800000" cy="500000"/>
          </a:xfrm>
          <a:prstGeom prst="roundRect">
            <a:avLst>
              <a:gd name="adj" fmla="val 2000"/>
            </a:avLst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tIns="152400" rIns="203200" bIns="152400"/>
          <a:lstStyle/>
          <a:p>
            <a:pPr algn="ctr">
              <a:defRPr sz="1500">
                <a:solidFill>
                  <a:srgbClr val="FFFFFF"/>
                </a:solidFill>
                <a:latin typeface="SF Mono"/>
              </a:defRPr>
            </a:pPr>
            <a:r>
              <a:t>reply(value)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00000" y="3080000"/>
            <a:ext cx="5500000" cy="4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700" b="1">
                <a:solidFill>
                  <a:srgbClr val="2266AA"/>
                </a:solidFill>
              </a:defRPr>
            </a:pPr>
            <a:r>
              <a:t>Respond to the caller immediately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700000"/>
            <a:ext cx="4800000" cy="500000"/>
          </a:xfrm>
          <a:prstGeom prst="roundRect">
            <a:avLst>
              <a:gd name="adj" fmla="val 2000"/>
            </a:avLst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tIns="152400" rIns="203200" bIns="152400"/>
          <a:lstStyle/>
          <a:p>
            <a:pPr algn="ctr">
              <a:defRPr sz="1500">
                <a:solidFill>
                  <a:srgbClr val="FFFFFF"/>
                </a:solidFill>
                <a:latin typeface="SF Mono"/>
              </a:defRPr>
            </a:pPr>
            <a:r>
              <a:t>andReply(persist(...), reply)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00000" y="3780000"/>
            <a:ext cx="5500000" cy="4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700" b="1">
                <a:solidFill>
                  <a:srgbClr val="2266AA"/>
                </a:solidFill>
              </a:defRPr>
            </a:pPr>
            <a:r>
              <a:t>Persist + reply atomically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400000"/>
            <a:ext cx="4800000" cy="500000"/>
          </a:xfrm>
          <a:prstGeom prst="roundRect">
            <a:avLst>
              <a:gd name="adj" fmla="val 2000"/>
            </a:avLst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tIns="152400" rIns="203200" bIns="152400"/>
          <a:lstStyle/>
          <a:p>
            <a:pPr algn="ctr">
              <a:defRPr sz="1500">
                <a:solidFill>
                  <a:srgbClr val="FFFFFF"/>
                </a:solidFill>
                <a:latin typeface="SF Mono"/>
              </a:defRPr>
            </a:pPr>
            <a:r>
              <a:t>andRun(persist(...), sideEffect)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00000" y="4480000"/>
            <a:ext cx="5500000" cy="4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700" b="1">
                <a:solidFill>
                  <a:srgbClr val="FFA726"/>
                </a:solidFill>
              </a:defRPr>
            </a:pPr>
            <a:r>
              <a:t>Persist, then run async side effect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5100000"/>
            <a:ext cx="4800000" cy="500000"/>
          </a:xfrm>
          <a:prstGeom prst="roundRect">
            <a:avLst>
              <a:gd name="adj" fmla="val 2000"/>
            </a:avLst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tIns="152400" rIns="203200" bIns="152400"/>
          <a:lstStyle/>
          <a:p>
            <a:pPr algn="ctr">
              <a:defRPr sz="1500">
                <a:solidFill>
                  <a:srgbClr val="FFFFFF"/>
                </a:solidFill>
                <a:latin typeface="SF Mono"/>
              </a:defRPr>
            </a:pPr>
            <a:r>
              <a:t>done()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00000" y="5180000"/>
            <a:ext cx="5500000" cy="4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700" b="1">
                <a:solidFill>
                  <a:srgbClr val="888888"/>
                </a:solidFill>
              </a:defRPr>
            </a:pPr>
            <a:r>
              <a:t>No-op — acknowledge without action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0000"/>
            <a:ext cx="10728655" cy="6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000" b="1">
                <a:solidFill>
                  <a:srgbClr val="FFFFFF"/>
                </a:solidFill>
              </a:defRPr>
            </a:pPr>
            <a:r>
              <a:t>THE EFFECTFUL EVENT LOOP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00000"/>
            <a:ext cx="10728655" cy="36000"/>
          </a:xfrm>
          <a:prstGeom prst="rect">
            <a:avLst/>
          </a:prstGeom>
          <a:solidFill>
            <a:srgbClr val="22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00000" y="1100000"/>
            <a:ext cx="2600000" cy="450000"/>
          </a:xfrm>
          <a:prstGeom prst="roundRect">
            <a:avLst>
              <a:gd name="adj" fmla="val 5000"/>
            </a:avLst>
          </a:prstGeom>
          <a:solidFill>
            <a:srgbClr val="22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  Dequeue command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00000" y="1160000"/>
            <a:ext cx="2000000" cy="38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888888"/>
                </a:solidFill>
              </a:defRPr>
            </a:pPr>
            <a:r>
              <a:t>from entity inbox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00000" y="1550000"/>
            <a:ext cx="400000" cy="300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200" b="1">
                <a:solidFill>
                  <a:srgbClr val="888888"/>
                </a:solidFill>
              </a:defRPr>
            </a:pPr>
            <a:r>
              <a:t>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0000" y="1850000"/>
            <a:ext cx="2600000" cy="450000"/>
          </a:xfrm>
          <a:prstGeom prst="roundRect">
            <a:avLst>
              <a:gd name="adj" fmla="val 5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6BB6A"/>
                </a:solidFill>
              </a:defRPr>
            </a:pPr>
            <a:r>
              <a:t>2  decide(state, cmd)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0000" y="1910000"/>
            <a:ext cx="2200000" cy="38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66BB6A"/>
                </a:solidFill>
                <a:latin typeface="SF Mono"/>
              </a:defRPr>
            </a:pPr>
            <a:r>
              <a:t>→ Effect&lt;Event, Reply&gt;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00000" y="2300000"/>
            <a:ext cx="400000" cy="300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200" b="1">
                <a:solidFill>
                  <a:srgbClr val="888888"/>
                </a:solidFill>
              </a:defRPr>
            </a:pPr>
            <a:r>
              <a:t>↓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0000" y="2600000"/>
            <a:ext cx="2600000" cy="450000"/>
          </a:xfrm>
          <a:prstGeom prst="roundRect">
            <a:avLst>
              <a:gd name="adj" fmla="val 5000"/>
            </a:avLst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  persist events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0000" y="2680000"/>
            <a:ext cx="500000" cy="380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000" b="1">
                <a:solidFill>
                  <a:srgbClr val="888888"/>
                </a:solidFill>
              </a:defRPr>
            </a:pPr>
            <a: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00000" y="2600000"/>
            <a:ext cx="1800000" cy="450000"/>
          </a:xfrm>
          <a:prstGeom prst="roundRect">
            <a:avLst>
              <a:gd name="adj" fmla="val 5000"/>
            </a:avLst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888888"/>
                </a:solidFill>
              </a:defRPr>
            </a:pPr>
            <a:r>
              <a:t>Journal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00000" y="3050000"/>
            <a:ext cx="400000" cy="300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200" b="1">
                <a:solidFill>
                  <a:srgbClr val="888888"/>
                </a:solidFill>
              </a:defRPr>
            </a:pPr>
            <a:r>
              <a:t>↓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0000" y="3350000"/>
            <a:ext cx="2600000" cy="450000"/>
          </a:xfrm>
          <a:prstGeom prst="roundRect">
            <a:avLst>
              <a:gd name="adj" fmla="val 5000"/>
            </a:avLst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  apply(state, event)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00000" y="3430000"/>
            <a:ext cx="500000" cy="380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000" b="1">
                <a:solidFill>
                  <a:srgbClr val="888888"/>
                </a:solidFill>
              </a:defRPr>
            </a:pPr>
            <a: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00000" y="3350000"/>
            <a:ext cx="1800000" cy="450000"/>
          </a:xfrm>
          <a:prstGeom prst="roundRect">
            <a:avLst>
              <a:gd name="adj" fmla="val 5000"/>
            </a:avLst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A726"/>
                </a:solidFill>
              </a:defRPr>
            </a:pPr>
            <a:r>
              <a:t>State'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00000" y="3800000"/>
            <a:ext cx="400000" cy="300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200" b="1">
                <a:solidFill>
                  <a:srgbClr val="888888"/>
                </a:solidFill>
              </a:defRPr>
            </a:pPr>
            <a:r>
              <a:t>↓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0000" y="4100000"/>
            <a:ext cx="2600000" cy="450000"/>
          </a:xfrm>
          <a:prstGeom prst="roundRect">
            <a:avLst>
              <a:gd name="adj" fmla="val 5000"/>
            </a:avLst>
          </a:prstGeom>
          <a:solidFill>
            <a:srgbClr val="FFA7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  execute Effect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0000" y="4520000"/>
            <a:ext cx="600000" cy="300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800" b="1">
                <a:solidFill>
                  <a:srgbClr val="888888"/>
                </a:solidFill>
              </a:defRPr>
            </a:pPr>
            <a:r>
              <a:t>↙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0000" y="4900000"/>
            <a:ext cx="1600000" cy="380000"/>
          </a:xfrm>
          <a:prstGeom prst="roundRect">
            <a:avLst>
              <a:gd name="adj" fmla="val 5000"/>
            </a:avLst>
          </a:prstGeom>
          <a:solidFill>
            <a:srgbClr val="22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reply → Caller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0000" y="4180000"/>
            <a:ext cx="800000" cy="380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1">
                <a:solidFill>
                  <a:srgbClr val="FFA726"/>
                </a:solidFill>
              </a:defRPr>
            </a:pPr>
            <a:r>
              <a:t>andRun 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00000" y="1100000"/>
            <a:ext cx="5200000" cy="5200000"/>
          </a:xfrm>
          <a:prstGeom prst="roundRect">
            <a:avLst>
              <a:gd name="adj" fmla="val 2000"/>
            </a:avLst>
          </a:prstGeom>
          <a:solidFill>
            <a:srgbClr val="1A1A2E"/>
          </a:solidFill>
          <a:ln w="19050">
            <a:solidFill>
              <a:srgbClr val="FFA7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00000" y="1180000"/>
            <a:ext cx="5000000" cy="35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1">
                <a:solidFill>
                  <a:srgbClr val="FFA726"/>
                </a:solidFill>
              </a:defRPr>
            </a:pPr>
            <a:r>
              <a:t>ctx.sync() — async effect execution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00000" y="1650000"/>
            <a:ext cx="4600000" cy="550000"/>
          </a:xfrm>
          <a:prstGeom prst="roundRect">
            <a:avLst>
              <a:gd name="adj" fmla="val 5000"/>
            </a:avLst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</a:p>
        </p:txBody>
      </p:sp>
      <p:sp>
        <p:nvSpPr>
          <p:cNvPr id="25" name="TextBox 24"/>
          <p:cNvSpPr txBox="1"/>
          <p:nvPr/>
        </p:nvSpPr>
        <p:spPr>
          <a:xfrm>
            <a:off x="6300000" y="1700000"/>
            <a:ext cx="4400000" cy="25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FFFFFF"/>
                </a:solidFill>
                <a:latin typeface="SF Mono"/>
              </a:defRPr>
            </a:pPr>
            <a:r>
              <a:t>effect: () → call external service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0000" y="1930000"/>
            <a:ext cx="4400000" cy="25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888888"/>
                </a:solidFill>
              </a:defRPr>
            </a:pPr>
            <a:r>
              <a:t>LLM  •  payment gateway  •  shipping API  •  email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00000" y="2500000"/>
            <a:ext cx="1400000" cy="400000"/>
          </a:xfrm>
          <a:prstGeom prst="roundRect">
            <a:avLst>
              <a:gd name="adj" fmla="val 5000"/>
            </a:avLst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onSuccess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00000" y="2920000"/>
            <a:ext cx="1400000" cy="300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000" b="0">
                <a:solidFill>
                  <a:srgbClr val="888888"/>
                </a:solidFill>
              </a:defRPr>
            </a:pPr>
            <a:r>
              <a:t>result → Command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750000" y="2500000"/>
            <a:ext cx="1400000" cy="400000"/>
          </a:xfrm>
          <a:prstGeom prst="roundRect">
            <a:avLst>
              <a:gd name="adj" fmla="val 5000"/>
            </a:avLst>
          </a:prstGeom>
          <a:solidFill>
            <a:srgbClr val="EF5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onFailure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50000" y="2920000"/>
            <a:ext cx="1400000" cy="300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000" b="0">
                <a:solidFill>
                  <a:srgbClr val="888888"/>
                </a:solidFill>
              </a:defRPr>
            </a:pPr>
            <a:r>
              <a:t>error → Command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300000" y="2500000"/>
            <a:ext cx="1400000" cy="400000"/>
          </a:xfrm>
          <a:prstGeom prst="roundRect">
            <a:avLst>
              <a:gd name="adj" fmla="val 5000"/>
            </a:avLst>
          </a:prstGeom>
          <a:solidFill>
            <a:srgbClr val="FFA7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onTimeout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00000" y="2920000"/>
            <a:ext cx="1400000" cy="300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000" b="0">
                <a:solidFill>
                  <a:srgbClr val="888888"/>
                </a:solidFill>
              </a:defRPr>
            </a:pPr>
            <a:r>
              <a:t>→ Command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00000" y="3200000"/>
            <a:ext cx="800000" cy="300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200" b="1">
                <a:solidFill>
                  <a:srgbClr val="888888"/>
                </a:solidFill>
              </a:defRPr>
            </a:pPr>
            <a:r>
              <a:t>↓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700000" y="3550000"/>
            <a:ext cx="3600000" cy="550000"/>
          </a:xfrm>
          <a:prstGeom prst="roundRect">
            <a:avLst>
              <a:gd name="adj" fmla="val 5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</a:p>
        </p:txBody>
      </p:sp>
      <p:sp>
        <p:nvSpPr>
          <p:cNvPr id="35" name="TextBox 34"/>
          <p:cNvSpPr txBox="1"/>
          <p:nvPr/>
        </p:nvSpPr>
        <p:spPr>
          <a:xfrm>
            <a:off x="6800000" y="3600000"/>
            <a:ext cx="3400000" cy="25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1">
                <a:solidFill>
                  <a:srgbClr val="FFFFFF"/>
                </a:solidFill>
              </a:defRPr>
            </a:pPr>
            <a:r>
              <a:t>→ new Command delivered to entity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00000" y="3850000"/>
            <a:ext cx="3400000" cy="25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66BB6A"/>
                </a:solidFill>
                <a:latin typeface="SF Mono"/>
              </a:defRPr>
            </a:pPr>
            <a:r>
              <a:t>e.g. { tag: "SetEncouragement", text: "..." }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00000" y="4400000"/>
            <a:ext cx="3600000" cy="6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>
                <a:solidFill>
                  <a:srgbClr val="FFA726"/>
                </a:solidFill>
              </a:defRPr>
            </a:pPr>
            <a:r>
              <a:t>↑  back to step 1 — the loop repeats</a:t>
            </a:r>
            <a:br/>
            <a:r>
              <a:t>   decide() handles the new command</a:t>
            </a:r>
            <a:br/>
            <a:r>
              <a:t>   → produces new events → new state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800000" y="5100000"/>
            <a:ext cx="500000" cy="500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3600" b="1">
                <a:solidFill>
                  <a:srgbClr val="FFA726"/>
                </a:solidFill>
              </a:defRPr>
            </a:pPr>
            <a:r>
              <a:t>⟲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6200000"/>
            <a:ext cx="10728655" cy="400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300" b="1">
                <a:solidFill>
                  <a:srgbClr val="888888"/>
                </a:solidFill>
              </a:defRPr>
            </a:pPr>
            <a:r>
              <a:t>One entity, one command at a time.  Effects are deterministic.  External calls get retry, replay, audit trail.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EC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8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222222"/>
                </a:solidFill>
              </a:defRPr>
            </a:pPr>
            <a:r>
              <a:t>THE DDD CORE MAPS 1:1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00000"/>
            <a:ext cx="10728655" cy="36000"/>
          </a:xfrm>
          <a:prstGeom prst="rect">
            <a:avLst/>
          </a:prstGeom>
          <a:solidFill>
            <a:srgbClr val="22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500000"/>
          <a:ext cx="11500000" cy="45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00000"/>
                <a:gridCol w="3500000"/>
                <a:gridCol w="5500000"/>
              </a:tblGrid>
              <a:tr h="500000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t>DDD</a:t>
                      </a:r>
                    </a:p>
                  </a:txBody>
                  <a:tcPr marL="101600" marT="50800">
                    <a:solidFill>
                      <a:srgbClr val="2266A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t>TEOB</a:t>
                      </a:r>
                    </a:p>
                  </a:txBody>
                  <a:tcPr marL="101600" marT="50800">
                    <a:solidFill>
                      <a:srgbClr val="2266A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t>Notes</a:t>
                      </a:r>
                    </a:p>
                  </a:txBody>
                  <a:tcPr marL="101600" marT="50800">
                    <a:solidFill>
                      <a:srgbClr val="2266AA"/>
                    </a:solidFill>
                  </a:tcPr>
                </a:tc>
              </a:tr>
              <a:tr h="50000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22222"/>
                          </a:solidFill>
                        </a:defRPr>
                      </a:pPr>
                      <a:r>
                        <a:t>Aggregate</a:t>
                      </a:r>
                    </a:p>
                  </a:txBody>
                  <a:tcPr marL="101600" marT="50800"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66AA"/>
                          </a:solidFill>
                          <a:latin typeface="SF Mono"/>
                        </a:defRPr>
                      </a:pPr>
                      <a:r>
                        <a:t>Aggregate&lt;S, C, E, R&gt;</a:t>
                      </a:r>
                    </a:p>
                  </a:txBody>
                  <a:tcPr marL="101600" marT="50800"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444444"/>
                          </a:solidFill>
                        </a:defRPr>
                      </a:pPr>
                      <a:r>
                        <a:t>The consistency boundary.</a:t>
                      </a:r>
                    </a:p>
                  </a:txBody>
                  <a:tcPr marL="101600" marT="50800"/>
                </a:tc>
              </a:tr>
              <a:tr h="50000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22222"/>
                          </a:solidFill>
                        </a:defRPr>
                      </a:pPr>
                      <a:r>
                        <a:t>Aggregate ID</a:t>
                      </a:r>
                    </a:p>
                  </a:txBody>
                  <a:tcPr marL="101600" marT="50800"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66AA"/>
                          </a:solidFill>
                          <a:latin typeface="SF Mono"/>
                        </a:defRPr>
                      </a:pPr>
                      <a:r>
                        <a:t>EntityId</a:t>
                      </a:r>
                    </a:p>
                  </a:txBody>
                  <a:tcPr marL="101600" marT="50800"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444444"/>
                          </a:solidFill>
                        </a:defRPr>
                      </a:pPr>
                      <a:r>
                        <a:t>Branded string, same concept.</a:t>
                      </a:r>
                    </a:p>
                  </a:txBody>
                  <a:tcPr marL="101600" marT="50800"/>
                </a:tc>
              </a:tr>
              <a:tr h="50000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22222"/>
                          </a:solidFill>
                        </a:defRPr>
                      </a:pPr>
                      <a:r>
                        <a:t>Command</a:t>
                      </a:r>
                    </a:p>
                  </a:txBody>
                  <a:tcPr marL="101600" marT="50800"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66AA"/>
                          </a:solidFill>
                          <a:latin typeface="SF Mono"/>
                        </a:defRPr>
                      </a:pPr>
                      <a:r>
                        <a:t>Command (type param)</a:t>
                      </a:r>
                    </a:p>
                  </a:txBody>
                  <a:tcPr marL="101600" marT="50800"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444444"/>
                          </a:solidFill>
                        </a:defRPr>
                      </a:pPr>
                      <a:r>
                        <a:t>Inbound intent.</a:t>
                      </a:r>
                    </a:p>
                  </a:txBody>
                  <a:tcPr marL="101600" marT="50800"/>
                </a:tc>
              </a:tr>
              <a:tr h="50000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22222"/>
                          </a:solidFill>
                        </a:defRPr>
                      </a:pPr>
                      <a:r>
                        <a:t>Domain Event</a:t>
                      </a:r>
                    </a:p>
                  </a:txBody>
                  <a:tcPr marL="101600" marT="50800"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66AA"/>
                          </a:solidFill>
                          <a:latin typeface="SF Mono"/>
                        </a:defRPr>
                      </a:pPr>
                      <a:r>
                        <a:t>Event (type param)</a:t>
                      </a:r>
                    </a:p>
                  </a:txBody>
                  <a:tcPr marL="101600" marT="50800"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444444"/>
                          </a:solidFill>
                        </a:defRPr>
                      </a:pPr>
                      <a:r>
                        <a:t>Fact that happened.</a:t>
                      </a:r>
                    </a:p>
                  </a:txBody>
                  <a:tcPr marL="101600" marT="50800"/>
                </a:tc>
              </a:tr>
              <a:tr h="50000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22222"/>
                          </a:solidFill>
                        </a:defRPr>
                      </a:pPr>
                      <a:r>
                        <a:t>Decision function</a:t>
                      </a:r>
                    </a:p>
                  </a:txBody>
                  <a:tcPr marL="101600" marT="50800"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66AA"/>
                          </a:solidFill>
                          <a:latin typeface="SF Mono"/>
                        </a:defRPr>
                      </a:pPr>
                      <a:r>
                        <a:t>decide(state, cmd, ctx)</a:t>
                      </a:r>
                    </a:p>
                  </a:txBody>
                  <a:tcPr marL="101600" marT="50800"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444444"/>
                          </a:solidFill>
                        </a:defRPr>
                      </a:pPr>
                      <a:r>
                        <a:t>"Given state + command, what happens?"</a:t>
                      </a:r>
                    </a:p>
                  </a:txBody>
                  <a:tcPr marL="101600" marT="50800"/>
                </a:tc>
              </a:tr>
              <a:tr h="50000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22222"/>
                          </a:solidFill>
                        </a:defRPr>
                      </a:pPr>
                      <a:r>
                        <a:t>State fold / evolve</a:t>
                      </a:r>
                    </a:p>
                  </a:txBody>
                  <a:tcPr marL="101600" marT="50800"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66AA"/>
                          </a:solidFill>
                          <a:latin typeface="SF Mono"/>
                        </a:defRPr>
                      </a:pPr>
                      <a:r>
                        <a:t>apply(state, event)</a:t>
                      </a:r>
                    </a:p>
                  </a:txBody>
                  <a:tcPr marL="101600" marT="50800"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444444"/>
                          </a:solidFill>
                        </a:defRPr>
                      </a:pPr>
                      <a:r>
                        <a:t>Pure left-fold.</a:t>
                      </a:r>
                    </a:p>
                  </a:txBody>
                  <a:tcPr marL="101600" marT="50800"/>
                </a:tc>
              </a:tr>
              <a:tr h="50000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22222"/>
                          </a:solidFill>
                        </a:defRPr>
                      </a:pPr>
                      <a:r>
                        <a:t>Initial state</a:t>
                      </a:r>
                    </a:p>
                  </a:txBody>
                  <a:tcPr marL="101600" marT="50800"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66AA"/>
                          </a:solidFill>
                          <a:latin typeface="SF Mono"/>
                        </a:defRPr>
                      </a:pPr>
                      <a:r>
                        <a:t>initial(id)</a:t>
                      </a:r>
                    </a:p>
                  </a:txBody>
                  <a:tcPr marL="101600" marT="50800"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444444"/>
                          </a:solidFill>
                        </a:defRPr>
                      </a:pPr>
                      <a:r>
                        <a:t>The "zero" of the fold.</a:t>
                      </a:r>
                    </a:p>
                  </a:txBody>
                  <a:tcPr marL="101600" marT="50800"/>
                </a:tc>
              </a:tr>
              <a:tr h="50000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22222"/>
                          </a:solidFill>
                        </a:defRPr>
                      </a:pPr>
                      <a:r>
                        <a:t>Invariant</a:t>
                      </a:r>
                    </a:p>
                  </a:txBody>
                  <a:tcPr marL="101600" marT="50800"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66AA"/>
                          </a:solidFill>
                          <a:latin typeface="SF Mono"/>
                        </a:defRPr>
                      </a:pPr>
                      <a:r>
                        <a:t>invariants[]</a:t>
                      </a:r>
                    </a:p>
                  </a:txBody>
                  <a:tcPr marL="101600" marT="50800"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444444"/>
                          </a:solidFill>
                        </a:defRPr>
                      </a:pPr>
                      <a:r>
                        <a:t>Executable, testable — faithful to DDD intent.</a:t>
                      </a:r>
                    </a:p>
                  </a:txBody>
                  <a:tcPr marL="101600" marT="50800"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EC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8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222222"/>
                </a:solidFill>
              </a:defRPr>
            </a:pPr>
            <a:r>
              <a:t>BEYOND THE BLUE BOOK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00000"/>
            <a:ext cx="10728655" cy="36000"/>
          </a:xfrm>
          <a:prstGeom prst="rect">
            <a:avLst/>
          </a:prstGeom>
          <a:solidFill>
            <a:srgbClr val="22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700000"/>
            <a:ext cx="2800000" cy="4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1">
                <a:solidFill>
                  <a:srgbClr val="2266AA"/>
                </a:solidFill>
              </a:defRPr>
            </a:pPr>
            <a:r>
              <a:t>Effect ADT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00000" y="1700000"/>
            <a:ext cx="8000000" cy="7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500" b="0">
                <a:solidFill>
                  <a:srgbClr val="444444"/>
                </a:solidFill>
              </a:defRPr>
            </a:pPr>
            <a:r>
              <a:t>Declarative Effect&lt;Event, Reply&gt; — a program describing what should happen.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600000"/>
            <a:ext cx="2800000" cy="4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1">
                <a:solidFill>
                  <a:srgbClr val="2266AA"/>
                </a:solidFill>
              </a:defRPr>
            </a:pPr>
            <a:r>
              <a:t>Reply as first-class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00000" y="2600000"/>
            <a:ext cx="8000000" cy="7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500" b="0">
                <a:solidFill>
                  <a:srgbClr val="444444"/>
                </a:solidFill>
              </a:defRPr>
            </a:pPr>
            <a:r>
              <a:t>persist(...).andReply(...) atomically. CQRS-with-response.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500000"/>
            <a:ext cx="2800000" cy="4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1">
                <a:solidFill>
                  <a:srgbClr val="2266AA"/>
                </a:solidFill>
              </a:defRPr>
            </a:pPr>
            <a:r>
              <a:t>EffectControl (ctx)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00000" y="3500000"/>
            <a:ext cx="8000000" cy="7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500" b="0">
                <a:solidFill>
                  <a:srgbClr val="444444"/>
                </a:solidFill>
              </a:defRPr>
            </a:pPr>
            <a:r>
              <a:t>Timers, cross-entity messaging, external effects (ctx.sync, ctx.tell).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00000"/>
            <a:ext cx="2800000" cy="4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1">
                <a:solidFill>
                  <a:srgbClr val="2266AA"/>
                </a:solidFill>
              </a:defRPr>
            </a:pPr>
            <a:r>
              <a:t>Invariants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00000" y="4400000"/>
            <a:ext cx="8000000" cy="7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500" b="0">
                <a:solidFill>
                  <a:srgbClr val="444444"/>
                </a:solidFill>
              </a:defRPr>
            </a:pPr>
            <a:r>
              <a:t>Executable and testable — faithful to why the boundary exists.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300000"/>
            <a:ext cx="2800000" cy="4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1">
                <a:solidFill>
                  <a:srgbClr val="2266AA"/>
                </a:solidFill>
              </a:defRPr>
            </a:pPr>
            <a:r>
              <a:t>Projections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00000" y="5300000"/>
            <a:ext cx="8000000" cy="7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500" b="0">
                <a:solidFill>
                  <a:srgbClr val="444444"/>
                </a:solidFill>
              </a:defRPr>
            </a:pPr>
            <a:r>
              <a:t>Event → read model. Same pure fold pattern, optimized for queries.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EC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8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222222"/>
                </a:solidFill>
              </a:defRPr>
            </a:pPr>
            <a:r>
              <a:t>EVERYTHING IS AN ENTITY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00000"/>
            <a:ext cx="10728655" cy="36000"/>
          </a:xfrm>
          <a:prstGeom prst="rect">
            <a:avLst/>
          </a:prstGeom>
          <a:solidFill>
            <a:srgbClr val="22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700000"/>
            <a:ext cx="10728655" cy="8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900" b="0">
                <a:solidFill>
                  <a:srgbClr val="222222"/>
                </a:solidFill>
              </a:defRPr>
            </a:pPr>
            <a:r>
              <a:t>• Complete entity behaviour — as pure functions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500000"/>
            <a:ext cx="10728655" cy="8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900" b="0">
                <a:solidFill>
                  <a:srgbClr val="222222"/>
                </a:solidFill>
              </a:defRPr>
            </a:pPr>
            <a:r>
              <a:t>• Codecs — serialisable representation (Command, Reply, Event, State)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300000"/>
            <a:ext cx="10728655" cy="8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900" b="0">
                <a:solidFill>
                  <a:srgbClr val="222222"/>
                </a:solidFill>
              </a:defRPr>
            </a:pPr>
            <a:r>
              <a:t>• Agnostic to execution and persistence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100000"/>
            <a:ext cx="10728655" cy="8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900" b="0">
                <a:solidFill>
                  <a:srgbClr val="222222"/>
                </a:solidFill>
              </a:defRPr>
            </a:pPr>
            <a:r>
              <a:t>• Multiple runtimes: in-memory, SQLite, PostgreSQL (same aggregate code)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00000"/>
            <a:ext cx="7000000" cy="1200000"/>
          </a:xfrm>
          <a:prstGeom prst="roundRect">
            <a:avLst>
              <a:gd name="adj" fmla="val 2000"/>
            </a:avLst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tIns="152400" rIns="203200" bIns="152400"/>
          <a:lstStyle/>
          <a:p>
            <a:pPr algn="ctr">
              <a:defRPr sz="1500">
                <a:solidFill>
                  <a:srgbClr val="FFFFFF"/>
                </a:solidFill>
                <a:latin typeface="SF Mono"/>
              </a:defRPr>
            </a:pPr>
            <a:r>
              <a:t>// Same aggregate code, different runtimes:</a:t>
            </a:r>
            <a:br/>
            <a:r>
              <a:t>createInMemoryRuntime([reg])     // tests &amp; dev</a:t>
            </a:r>
            <a:br/>
            <a:r>
              <a:t>createSQLiteRuntime([reg])       // zero-config local</a:t>
            </a:r>
            <a:br/>
            <a:r>
              <a:t>createPostgresRuntime([reg])     // production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EC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8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FFA726"/>
                </a:solidFill>
              </a:defRPr>
            </a:pPr>
            <a:r>
              <a:t>EVENT STORMING: DISCOVER THE DOMAIN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00000"/>
            <a:ext cx="10728655" cy="36000"/>
          </a:xfrm>
          <a:prstGeom prst="rect">
            <a:avLst/>
          </a:prstGeom>
          <a:solidFill>
            <a:srgbClr val="FFA7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00000"/>
            <a:ext cx="10728655" cy="4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900" b="0">
                <a:solidFill>
                  <a:srgbClr val="444444"/>
                </a:solidFill>
              </a:defRPr>
            </a:pPr>
            <a:r>
              <a:t>Before we code — what happened in the domain?</a:t>
            </a:r>
          </a:p>
        </p:txBody>
      </p:sp>
      <p:sp>
        <p:nvSpPr>
          <p:cNvPr id="5" name="Rectangle 4"/>
          <p:cNvSpPr/>
          <p:nvPr/>
        </p:nvSpPr>
        <p:spPr>
          <a:xfrm rot="21480000">
            <a:off x="795847" y="2200000"/>
            <a:ext cx="2000000" cy="1600000"/>
          </a:xfrm>
          <a:prstGeom prst="rect">
            <a:avLst/>
          </a:prstGeom>
          <a:solidFill>
            <a:srgbClr val="FF9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5847" y="2280000"/>
            <a:ext cx="1840000" cy="400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222222"/>
                </a:solidFill>
              </a:defRPr>
            </a:pPr>
            <a:r>
              <a:t>Domain Event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5847" y="2750000"/>
            <a:ext cx="1840000" cy="900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100" b="0">
                <a:solidFill>
                  <a:srgbClr val="222222"/>
                </a:solidFill>
              </a:defRPr>
            </a:pPr>
            <a:r>
              <a:t>Something that happened</a:t>
            </a:r>
            <a:br/>
            <a:r>
              <a:t>(past tense)</a:t>
            </a:r>
          </a:p>
        </p:txBody>
      </p:sp>
      <p:sp>
        <p:nvSpPr>
          <p:cNvPr id="8" name="Rectangle 7"/>
          <p:cNvSpPr/>
          <p:nvPr/>
        </p:nvSpPr>
        <p:spPr>
          <a:xfrm>
            <a:off x="2945847" y="2200000"/>
            <a:ext cx="2000000" cy="1600000"/>
          </a:xfrm>
          <a:prstGeom prst="rect">
            <a:avLst/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25847" y="2280000"/>
            <a:ext cx="1840000" cy="400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Command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25847" y="2750000"/>
            <a:ext cx="1840000" cy="900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100" b="0">
                <a:solidFill>
                  <a:srgbClr val="FFFFFF"/>
                </a:solidFill>
              </a:defRPr>
            </a:pPr>
            <a:r>
              <a:t>User intent</a:t>
            </a:r>
            <a:br/>
            <a:r>
              <a:t>(imperative)</a:t>
            </a:r>
          </a:p>
        </p:txBody>
      </p:sp>
      <p:sp>
        <p:nvSpPr>
          <p:cNvPr id="11" name="Rectangle 10"/>
          <p:cNvSpPr/>
          <p:nvPr/>
        </p:nvSpPr>
        <p:spPr>
          <a:xfrm rot="120000">
            <a:off x="5095847" y="2200000"/>
            <a:ext cx="2000000" cy="1600000"/>
          </a:xfrm>
          <a:prstGeom prst="rect">
            <a:avLst/>
          </a:prstGeom>
          <a:solidFill>
            <a:srgbClr val="FFEE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75847" y="2280000"/>
            <a:ext cx="1840000" cy="400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222222"/>
                </a:solidFill>
              </a:defRPr>
            </a:pPr>
            <a:r>
              <a:t>Aggregate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75847" y="2750000"/>
            <a:ext cx="1840000" cy="900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100" b="0">
                <a:solidFill>
                  <a:srgbClr val="222222"/>
                </a:solidFill>
              </a:defRPr>
            </a:pPr>
            <a:r>
              <a:t>Consistency boundary</a:t>
            </a:r>
            <a:br/>
            <a:r>
              <a:t>(the decision maker)</a:t>
            </a:r>
          </a:p>
        </p:txBody>
      </p:sp>
      <p:sp>
        <p:nvSpPr>
          <p:cNvPr id="14" name="Rectangle 13"/>
          <p:cNvSpPr/>
          <p:nvPr/>
        </p:nvSpPr>
        <p:spPr>
          <a:xfrm rot="21480000">
            <a:off x="7245847" y="2200000"/>
            <a:ext cx="2000000" cy="1600000"/>
          </a:xfrm>
          <a:prstGeom prst="rect">
            <a:avLst/>
          </a:prstGeom>
          <a:solidFill>
            <a:srgbClr val="EF5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25847" y="2280000"/>
            <a:ext cx="1840000" cy="400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Business Rule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25847" y="2750000"/>
            <a:ext cx="1840000" cy="900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100" b="0">
                <a:solidFill>
                  <a:srgbClr val="FFFFFF"/>
                </a:solidFill>
              </a:defRPr>
            </a:pPr>
            <a:r>
              <a:t>Invariant / policy</a:t>
            </a:r>
            <a:br/>
            <a:r>
              <a:t>(must always hold)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395847" y="2200000"/>
            <a:ext cx="2000000" cy="1600000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75847" y="2280000"/>
            <a:ext cx="1840000" cy="400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Read Model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75847" y="2750000"/>
            <a:ext cx="1840000" cy="900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100" b="0">
                <a:solidFill>
                  <a:srgbClr val="FFFFFF"/>
                </a:solidFill>
              </a:defRPr>
            </a:pPr>
            <a:r>
              <a:t>Query-optimized view</a:t>
            </a:r>
            <a:br/>
            <a:r>
              <a:t>(derived from events)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300000"/>
            <a:ext cx="10728655" cy="600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500" b="0">
                <a:solidFill>
                  <a:srgbClr val="888888"/>
                </a:solidFill>
              </a:defRPr>
            </a:pPr>
            <a:r>
              <a:t>Alberto Brandolini's collaborative modelling technique — sticky notes on a wall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000000"/>
            <a:ext cx="10728655" cy="600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200" b="1">
                <a:solidFill>
                  <a:srgbClr val="FFA726"/>
                </a:solidFill>
              </a:defRPr>
            </a:pPr>
            <a:r>
              <a:t>"Let's storm the gift card domain together..."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EC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8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FFA726"/>
                </a:solidFill>
              </a:defRPr>
            </a:pPr>
            <a:r>
              <a:t>GIFT CARD: FROM STICKY NOTES TO CODE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00000"/>
            <a:ext cx="10728655" cy="36000"/>
          </a:xfrm>
          <a:prstGeom prst="rect">
            <a:avLst/>
          </a:prstGeom>
          <a:solidFill>
            <a:srgbClr val="FFA7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00000"/>
            <a:ext cx="2000000" cy="3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>
                <a:solidFill>
                  <a:srgbClr val="888888"/>
                </a:solidFill>
              </a:defRPr>
            </a:pPr>
            <a:r>
              <a:t>COMMANDS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850000"/>
            <a:ext cx="1800000" cy="420000"/>
          </a:xfrm>
          <a:prstGeom prst="rect">
            <a:avLst/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Issue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370000"/>
            <a:ext cx="1800000" cy="420000"/>
          </a:xfrm>
          <a:prstGeom prst="rect">
            <a:avLst/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Redeem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890000"/>
            <a:ext cx="1800000" cy="420000"/>
          </a:xfrm>
          <a:prstGeom prst="rect">
            <a:avLst/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Cancel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3410000"/>
            <a:ext cx="1800000" cy="420000"/>
          </a:xfrm>
          <a:prstGeom prst="rect">
            <a:avLst/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GetBalance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00000" y="2700000"/>
            <a:ext cx="800000" cy="400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3600" b="1">
                <a:solidFill>
                  <a:srgbClr val="444444"/>
                </a:solidFill>
              </a:defRPr>
            </a:pPr>
            <a: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3100000" y="2000000"/>
            <a:ext cx="2200000" cy="2000000"/>
          </a:xfrm>
          <a:prstGeom prst="rect">
            <a:avLst/>
          </a:prstGeom>
          <a:solidFill>
            <a:srgbClr val="FFEE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000" y="2100000"/>
            <a:ext cx="2000000" cy="400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200" b="1">
                <a:solidFill>
                  <a:srgbClr val="222222"/>
                </a:solidFill>
              </a:defRPr>
            </a:pPr>
            <a:r>
              <a:t>GiftCard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000" y="2700000"/>
            <a:ext cx="2000000" cy="350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0">
                <a:solidFill>
                  <a:srgbClr val="EF5350"/>
                </a:solidFill>
              </a:defRPr>
            </a:pPr>
            <a:r>
              <a:t>⚠ balance ≥ 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000" y="3100000"/>
            <a:ext cx="2000000" cy="350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0">
                <a:solidFill>
                  <a:srgbClr val="EF5350"/>
                </a:solidFill>
              </a:defRPr>
            </a:pPr>
            <a:r>
              <a:t>⚠ cancelled → bal = 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00000" y="2700000"/>
            <a:ext cx="800000" cy="400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3600" b="1">
                <a:solidFill>
                  <a:srgbClr val="444444"/>
                </a:solidFill>
              </a:defRPr>
            </a:pPr>
            <a:r>
              <a:t>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0000" y="1500000"/>
            <a:ext cx="2000000" cy="3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>
                <a:solidFill>
                  <a:srgbClr val="888888"/>
                </a:solidFill>
              </a:defRPr>
            </a:pPr>
            <a:r>
              <a:t>DOMAIN EVENTS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00000" y="1850000"/>
            <a:ext cx="1800000" cy="420000"/>
          </a:xfrm>
          <a:prstGeom prst="rect">
            <a:avLst/>
          </a:prstGeom>
          <a:solidFill>
            <a:srgbClr val="FF9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222222"/>
                </a:solidFill>
              </a:defRPr>
            </a:pPr>
            <a:r>
              <a:t>Issued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00000" y="2370000"/>
            <a:ext cx="1800000" cy="420000"/>
          </a:xfrm>
          <a:prstGeom prst="rect">
            <a:avLst/>
          </a:prstGeom>
          <a:solidFill>
            <a:srgbClr val="FF9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222222"/>
                </a:solidFill>
              </a:defRPr>
            </a:pPr>
            <a:r>
              <a:t>Redeemed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2890000"/>
            <a:ext cx="1800000" cy="420000"/>
          </a:xfrm>
          <a:prstGeom prst="rect">
            <a:avLst/>
          </a:prstGeom>
          <a:solidFill>
            <a:srgbClr val="FF9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222222"/>
                </a:solidFill>
              </a:defRPr>
            </a:pPr>
            <a:r>
              <a:t>Cancelled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00000" y="1500000"/>
            <a:ext cx="2800000" cy="3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>
                <a:solidFill>
                  <a:srgbClr val="888888"/>
                </a:solidFill>
              </a:defRPr>
            </a:pPr>
            <a:r>
              <a:t>READ MODEL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700000" y="1850000"/>
            <a:ext cx="2500000" cy="2000000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00000" y="2000000"/>
            <a:ext cx="2300000" cy="300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300" b="0">
                <a:solidFill>
                  <a:srgbClr val="FFFFFF"/>
                </a:solidFill>
                <a:latin typeface="SF Mono"/>
              </a:defRPr>
            </a:pPr>
            <a:r>
              <a:t>balance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00000" y="2380000"/>
            <a:ext cx="2300000" cy="300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300" b="0">
                <a:solidFill>
                  <a:srgbClr val="FFFFFF"/>
                </a:solidFill>
                <a:latin typeface="SF Mono"/>
              </a:defRPr>
            </a:pPr>
            <a:r>
              <a:t>status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00000" y="2760000"/>
            <a:ext cx="2300000" cy="300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300" b="0">
                <a:solidFill>
                  <a:srgbClr val="FFFFFF"/>
                </a:solidFill>
                <a:latin typeface="SF Mono"/>
              </a:defRPr>
            </a:pPr>
            <a:r>
              <a:t>recipientName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00000" y="3140000"/>
            <a:ext cx="2300000" cy="300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300" b="0">
                <a:solidFill>
                  <a:srgbClr val="FFFFFF"/>
                </a:solidFill>
                <a:latin typeface="SF Mono"/>
              </a:defRPr>
            </a:pPr>
            <a:r>
              <a:t>transactionCount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4500000"/>
            <a:ext cx="8500000" cy="1500000"/>
          </a:xfrm>
          <a:prstGeom prst="roundRect">
            <a:avLst>
              <a:gd name="adj" fmla="val 2000"/>
            </a:avLst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tIns="152400" rIns="203200" bIns="152400"/>
          <a:lstStyle/>
          <a:p>
            <a:pPr algn="ctr">
              <a:defRPr sz="1400">
                <a:solidFill>
                  <a:srgbClr val="FFFFFF"/>
                </a:solidFill>
                <a:latin typeface="SF Mono"/>
              </a:defRPr>
            </a:pPr>
            <a:r>
              <a:t>// Sticky notes → TypeScript types:</a:t>
            </a:r>
            <a:br/>
            <a:r>
              <a:t>Command:   Issue | Redeem | Cancel | GetBalance</a:t>
            </a:r>
            <a:br/>
            <a:r>
              <a:t>Event:     Issued | Redeemed | Cancelled</a:t>
            </a:r>
            <a:br/>
            <a:r>
              <a:t>State:     { balance, status, recipientName }</a:t>
            </a:r>
            <a:br/>
            <a:r>
              <a:t>View:      { balance, status, recipientName, transactionCount }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00000" y="4700000"/>
            <a:ext cx="2500000" cy="4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1">
                <a:solidFill>
                  <a:srgbClr val="66BB6A"/>
                </a:solidFill>
              </a:defRPr>
            </a:pPr>
            <a:r>
              <a:t>→ This is what</a:t>
            </a:r>
            <a:br/>
            <a:r>
              <a:t>   you'll implement!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EC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8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400" b="1">
                <a:solidFill>
                  <a:srgbClr val="66BB6A"/>
                </a:solidFill>
              </a:defRPr>
            </a:pPr>
            <a:r>
              <a:t>EXERCISE 1: GIFT CARD AGGREGATE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00000"/>
            <a:ext cx="10728655" cy="36000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600000"/>
            <a:ext cx="6500000" cy="1000000"/>
          </a:xfrm>
          <a:prstGeom prst="roundRect">
            <a:avLst>
              <a:gd name="adj" fmla="val 2000"/>
            </a:avLst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tIns="152400" rIns="203200" bIns="152400"/>
          <a:lstStyle/>
          <a:p>
            <a:pPr algn="ctr">
              <a:defRPr sz="1700">
                <a:solidFill>
                  <a:srgbClr val="FFFFFF"/>
                </a:solidFill>
                <a:latin typeface="SF Mono"/>
              </a:defRPr>
            </a:pPr>
            <a:r>
              <a:t>Commands:  Issue | Redeem | Cancel | GetBalance</a:t>
            </a:r>
            <a:br/>
            <a:r>
              <a:t>Events:    Issued | Redeemed | Cancelled</a:t>
            </a:r>
            <a:br/>
            <a:r>
              <a:t>State:     { balance, status, recipientName 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900000"/>
            <a:ext cx="6000000" cy="4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1">
                <a:solidFill>
                  <a:srgbClr val="222222"/>
                </a:solidFill>
              </a:defRPr>
            </a:pPr>
            <a:r>
              <a:t>Business rules to implement: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400000"/>
            <a:ext cx="10728655" cy="42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700" b="0">
                <a:solidFill>
                  <a:srgbClr val="222222"/>
                </a:solidFill>
              </a:defRPr>
            </a:pPr>
            <a:r>
              <a:t>• Issue only if card is Empty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820000"/>
            <a:ext cx="10728655" cy="42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700" b="0">
                <a:solidFill>
                  <a:srgbClr val="222222"/>
                </a:solidFill>
              </a:defRPr>
            </a:pPr>
            <a:r>
              <a:t>• Redeem only if Active, amount ≤ balance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240000"/>
            <a:ext cx="10728655" cy="42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700" b="0">
                <a:solidFill>
                  <a:srgbClr val="222222"/>
                </a:solidFill>
              </a:defRPr>
            </a:pPr>
            <a:r>
              <a:t>• Cancel only if Active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60000"/>
            <a:ext cx="10728655" cy="42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700" b="0">
                <a:solidFill>
                  <a:srgbClr val="222222"/>
                </a:solidFill>
              </a:defRPr>
            </a:pPr>
            <a:r>
              <a:t>• Invariants: balance ≥ 0, cancelled → balance = 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5400000"/>
            <a:ext cx="5500000" cy="500000"/>
          </a:xfrm>
          <a:prstGeom prst="roundRect">
            <a:avLst>
              <a:gd name="adj" fmla="val 2000"/>
            </a:avLst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tIns="152400" rIns="203200" bIns="152400"/>
          <a:lstStyle/>
          <a:p>
            <a:pPr algn="ctr">
              <a:defRPr sz="1600">
                <a:solidFill>
                  <a:srgbClr val="FFFFFF"/>
                </a:solidFill>
                <a:latin typeface="SF Mono"/>
              </a:defRPr>
            </a:pPr>
            <a:r>
              <a:t>npm run test:aggregate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00000" y="5450000"/>
            <a:ext cx="5000000" cy="5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200" b="1">
                <a:solidFill>
                  <a:srgbClr val="66BB6A"/>
                </a:solidFill>
              </a:defRPr>
            </a:pPr>
            <a:r>
              <a:t>16 tests. Make them green.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00000"/>
            <a:ext cx="10728655" cy="1000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4800" b="1">
                <a:solidFill>
                  <a:srgbClr val="66BB6A"/>
                </a:solidFill>
              </a:defRPr>
            </a:pPr>
            <a:r>
              <a:t>EXERCISE 1: AGGREGATE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400000"/>
            <a:ext cx="10728655" cy="600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200" b="0">
                <a:solidFill>
                  <a:srgbClr val="888888"/>
                </a:solidFill>
              </a:defRPr>
            </a:pPr>
            <a:r>
              <a:t>30 minutes  •  16 tests  •  implement decide() + invariants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600000"/>
            <a:ext cx="10728655" cy="400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800" b="0">
                <a:solidFill>
                  <a:srgbClr val="66BB6A"/>
                </a:solidFill>
                <a:latin typeface="SF Mono"/>
              </a:defRPr>
            </a:pPr>
            <a:r>
              <a:t>npm run test:aggregate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EC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8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222222"/>
                </a:solidFill>
              </a:defRPr>
            </a:pPr>
            <a:r>
              <a:t>EXERCISE 1: DEBRIEF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00000"/>
            <a:ext cx="10728655" cy="36000"/>
          </a:xfrm>
          <a:prstGeom prst="rect">
            <a:avLst/>
          </a:prstGeom>
          <a:solidFill>
            <a:srgbClr val="22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700000"/>
            <a:ext cx="10728655" cy="55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700" b="0">
                <a:solidFill>
                  <a:srgbClr val="222222"/>
                </a:solidFill>
              </a:defRPr>
            </a:pPr>
            <a:r>
              <a:t>• decide() — all business logic in one place, pattern-matched on command tag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50000"/>
            <a:ext cx="10728655" cy="55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700" b="0">
                <a:solidFill>
                  <a:srgbClr val="222222"/>
                </a:solidFill>
              </a:defRPr>
            </a:pPr>
            <a:r>
              <a:t>• apply() — pure state fold, no logic, just data transformation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800000"/>
            <a:ext cx="10728655" cy="55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700" b="0">
                <a:solidFill>
                  <a:srgbClr val="222222"/>
                </a:solidFill>
              </a:defRPr>
            </a:pPr>
            <a:r>
              <a:t>• invariants[] — executable contracts that guard consistency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350000"/>
            <a:ext cx="10728655" cy="55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700" b="0">
                <a:solidFill>
                  <a:srgbClr val="222222"/>
                </a:solidFill>
              </a:defRPr>
            </a:pPr>
            <a:r>
              <a:t>• Effect ADT — persist(), reply(), andReply() — declarative, composable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900000"/>
            <a:ext cx="10728655" cy="55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700" b="0">
                <a:solidFill>
                  <a:srgbClr val="222222"/>
                </a:solidFill>
              </a:defRPr>
            </a:pPr>
            <a:r>
              <a:t>• AggregateTestKit — test the domain directly, no infrastructure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200000"/>
            <a:ext cx="8500000" cy="1000000"/>
          </a:xfrm>
          <a:prstGeom prst="roundRect">
            <a:avLst>
              <a:gd name="adj" fmla="val 2000"/>
            </a:avLst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tIns="152400" rIns="203200" bIns="152400"/>
          <a:lstStyle/>
          <a:p>
            <a:pPr algn="ctr">
              <a:defRPr sz="1500">
                <a:solidFill>
                  <a:srgbClr val="FFFFFF"/>
                </a:solidFill>
                <a:latin typeface="SF Mono"/>
              </a:defRPr>
            </a:pPr>
            <a:r>
              <a:t>// The core pattern:</a:t>
            </a:r>
            <a:br/>
            <a:r>
              <a:t>if (invalid) return reply({ tag: 'Rejected', reason: '...' })</a:t>
            </a:r>
            <a:br/>
            <a:r>
              <a:t>return andReply(persist(event), { tag: 'Ok' })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EC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8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2266AA"/>
                </a:solidFill>
              </a:defRPr>
            </a:pPr>
            <a:r>
              <a:t>DEMO: YOUR AGGREGATE AS AN API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00000"/>
            <a:ext cx="10728655" cy="36000"/>
          </a:xfrm>
          <a:prstGeom prst="rect">
            <a:avLst/>
          </a:prstGeom>
          <a:solidFill>
            <a:srgbClr val="22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000"/>
            <a:ext cx="10728655" cy="4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900" b="0">
                <a:solidFill>
                  <a:srgbClr val="444444"/>
                </a:solidFill>
              </a:defRPr>
            </a:pPr>
            <a:r>
              <a:t>Your aggregate is now a REST API — defined by openapi.yaml: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200000"/>
            <a:ext cx="8500000" cy="3400000"/>
          </a:xfrm>
          <a:prstGeom prst="roundRect">
            <a:avLst>
              <a:gd name="adj" fmla="val 2000"/>
            </a:avLst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tIns="152400" rIns="203200" bIns="152400"/>
          <a:lstStyle/>
          <a:p>
            <a:pPr algn="ctr">
              <a:defRPr sz="1400">
                <a:solidFill>
                  <a:srgbClr val="FFFFFF"/>
                </a:solidFill>
                <a:latin typeface="SF Mono"/>
              </a:defRPr>
            </a:pPr>
            <a:r>
              <a:t># Issue a gift card</a:t>
            </a:r>
            <a:br/>
            <a:r>
              <a:t>curl -X POST http://localhost:3000/api/gift-cards \</a:t>
            </a:r>
            <a:br/>
            <a:r>
              <a:t>  -H 'Content-Type: application/json' \</a:t>
            </a:r>
            <a:br/>
            <a:r>
              <a:t>  -d '{"id":"card-1","amount":100,"recipientName":"Alice"}'</a:t>
            </a:r>
            <a:br/>
            <a:r>
              <a:t>→ 201 { balance: 100, status: "Active", recipientName: "Alice",</a:t>
            </a:r>
            <a:br/>
            <a:r>
              <a:t>         encouragement: "Alice, you deserve something special!" }</a:t>
            </a:r>
            <a:br/>
            <a:br/>
            <a:r>
              <a:t># Redeem</a:t>
            </a:r>
            <a:br/>
            <a:r>
              <a:t>curl -X POST .../api/gift-cards/card-1/redeem -d '{"amount":30}'</a:t>
            </a:r>
            <a:br/>
            <a:r>
              <a:t>→ 200 { balance: 70, transactionCount: 1, encouragement: "..." }</a:t>
            </a:r>
            <a:br/>
            <a:br/>
            <a:r>
              <a:t># Reject (too much)</a:t>
            </a:r>
            <a:br/>
            <a:r>
              <a:t>curl -X POST .../api/gift-cards/card-1/redeem -d '{"amount":999}'</a:t>
            </a:r>
            <a:br/>
            <a:r>
              <a:t>→ 400 { error: "Insufficient balance" 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700000"/>
            <a:ext cx="10728655" cy="4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500" b="1">
                <a:solidFill>
                  <a:srgbClr val="2266AA"/>
                </a:solidFill>
              </a:defRPr>
            </a:pPr>
            <a:r>
              <a:t>REST endpoints return views, not raw replies.  Commands stay internal.  OpenAPI spec = contract.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0000"/>
            <a:ext cx="10728655" cy="6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000" b="1">
                <a:solidFill>
                  <a:srgbClr val="FFFFFF"/>
                </a:solidFill>
              </a:defRPr>
            </a:pPr>
            <a:r>
              <a:t>WHAT JUST HAPPENED?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00000"/>
            <a:ext cx="10728655" cy="36000"/>
          </a:xfrm>
          <a:prstGeom prst="rect">
            <a:avLst/>
          </a:prstGeom>
          <a:solidFill>
            <a:srgbClr val="FFA7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00000" y="1050000"/>
            <a:ext cx="1600000" cy="380000"/>
          </a:xfrm>
          <a:prstGeom prst="roundRect">
            <a:avLst>
              <a:gd name="adj" fmla="val 5000"/>
            </a:avLst>
          </a:prstGeom>
          <a:solidFill>
            <a:srgbClr val="22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Client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00000" y="1050000"/>
            <a:ext cx="1600000" cy="380000"/>
          </a:xfrm>
          <a:prstGeom prst="roundRect">
            <a:avLst>
              <a:gd name="adj" fmla="val 5000"/>
            </a:avLst>
          </a:prstGeom>
          <a:solidFill>
            <a:srgbClr val="22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HTTP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00000" y="1050000"/>
            <a:ext cx="1600000" cy="380000"/>
          </a:xfrm>
          <a:prstGeom prst="roundRect">
            <a:avLst>
              <a:gd name="adj" fmla="val 5000"/>
            </a:avLst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decide()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00000" y="1050000"/>
            <a:ext cx="1600000" cy="380000"/>
          </a:xfrm>
          <a:prstGeom prst="roundRect">
            <a:avLst>
              <a:gd name="adj" fmla="val 5000"/>
            </a:avLst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Journal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00000" y="1050000"/>
            <a:ext cx="1600000" cy="380000"/>
          </a:xfrm>
          <a:prstGeom prst="roundRect">
            <a:avLst>
              <a:gd name="adj" fmla="val 5000"/>
            </a:avLst>
          </a:prstGeom>
          <a:solidFill>
            <a:srgbClr val="FFA7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Mock Service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00000" y="1050000"/>
            <a:ext cx="1600000" cy="380000"/>
          </a:xfrm>
          <a:prstGeom prst="roundRect">
            <a:avLst>
              <a:gd name="adj" fmla="val 5000"/>
            </a:avLst>
          </a:prstGeom>
          <a:solidFill>
            <a:srgbClr val="1725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Projection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90000" y="1430000"/>
            <a:ext cx="20000" cy="4700000"/>
          </a:xfrm>
          <a:prstGeom prst="rect">
            <a:avLst/>
          </a:prstGeom>
          <a:solidFill>
            <a:srgbClr val="44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990000" y="1430000"/>
            <a:ext cx="20000" cy="4700000"/>
          </a:xfrm>
          <a:prstGeom prst="rect">
            <a:avLst/>
          </a:prstGeom>
          <a:solidFill>
            <a:srgbClr val="44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890000" y="1430000"/>
            <a:ext cx="20000" cy="4700000"/>
          </a:xfrm>
          <a:prstGeom prst="rect">
            <a:avLst/>
          </a:prstGeom>
          <a:solidFill>
            <a:srgbClr val="44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790000" y="1430000"/>
            <a:ext cx="20000" cy="4700000"/>
          </a:xfrm>
          <a:prstGeom prst="rect">
            <a:avLst/>
          </a:prstGeom>
          <a:solidFill>
            <a:srgbClr val="44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690000" y="1430000"/>
            <a:ext cx="20000" cy="4700000"/>
          </a:xfrm>
          <a:prstGeom prst="rect">
            <a:avLst/>
          </a:prstGeom>
          <a:solidFill>
            <a:srgbClr val="44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590000" y="1430000"/>
            <a:ext cx="20000" cy="4700000"/>
          </a:xfrm>
          <a:prstGeom prst="rect">
            <a:avLst/>
          </a:prstGeom>
          <a:solidFill>
            <a:srgbClr val="44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30000" y="1690000"/>
            <a:ext cx="1840000" cy="15000"/>
          </a:xfrm>
          <a:prstGeom prst="rect">
            <a:avLst/>
          </a:prstGeom>
          <a:solidFill>
            <a:srgbClr val="22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60000" y="1610000"/>
            <a:ext cx="200000" cy="200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2266AA"/>
                </a:solidFill>
              </a:defRPr>
            </a:pPr>
            <a: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30000" y="1510000"/>
            <a:ext cx="1840000" cy="180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000" b="0">
                <a:solidFill>
                  <a:srgbClr val="2266AA"/>
                </a:solidFill>
              </a:defRPr>
            </a:pPr>
            <a:r>
              <a:t>POST /api/gift-cards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030000" y="2110000"/>
            <a:ext cx="1840000" cy="15000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60000" y="2030000"/>
            <a:ext cx="200000" cy="200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66BB6A"/>
                </a:solidFill>
              </a:defRPr>
            </a:pPr>
            <a:r>
              <a:t>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30000" y="1930000"/>
            <a:ext cx="1840000" cy="180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000" b="0">
                <a:solidFill>
                  <a:srgbClr val="66BB6A"/>
                </a:solidFill>
              </a:defRPr>
            </a:pPr>
            <a:r>
              <a:t>Issue(100, "Alice")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930000" y="2530000"/>
            <a:ext cx="1840000" cy="15000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60000" y="2450000"/>
            <a:ext cx="200000" cy="200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66BB6A"/>
                </a:solidFill>
              </a:defRPr>
            </a:pPr>
            <a: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30000" y="2350000"/>
            <a:ext cx="1840000" cy="180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000" b="0">
                <a:solidFill>
                  <a:srgbClr val="66BB6A"/>
                </a:solidFill>
              </a:defRPr>
            </a:pPr>
            <a:r>
              <a:t>persist(Issued)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930000" y="2950000"/>
            <a:ext cx="3740000" cy="15000"/>
          </a:xfrm>
          <a:prstGeom prst="rect">
            <a:avLst/>
          </a:prstGeom>
          <a:solidFill>
            <a:srgbClr val="FFA7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60000" y="2870000"/>
            <a:ext cx="200000" cy="200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FFA726"/>
                </a:solidFill>
              </a:defRPr>
            </a:pPr>
            <a:r>
              <a:t>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30000" y="2770000"/>
            <a:ext cx="3740000" cy="180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000" b="0">
                <a:solidFill>
                  <a:srgbClr val="FFA726"/>
                </a:solidFill>
              </a:defRPr>
            </a:pPr>
            <a:r>
              <a:t>andRun → ctx.sync()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930000" y="3370000"/>
            <a:ext cx="3740000" cy="15000"/>
          </a:xfrm>
          <a:prstGeom prst="rect">
            <a:avLst/>
          </a:prstGeom>
          <a:solidFill>
            <a:srgbClr val="FFA7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30000" y="3290000"/>
            <a:ext cx="200000" cy="200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FFA726"/>
                </a:solidFill>
              </a:defRPr>
            </a:pPr>
            <a:r>
              <a:t>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30000" y="3190000"/>
            <a:ext cx="3740000" cy="180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000" b="0">
                <a:solidFill>
                  <a:srgbClr val="FFA726"/>
                </a:solidFill>
              </a:defRPr>
            </a:pPr>
            <a:r>
              <a:t>SetEncouragement(text)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930000" y="3790000"/>
            <a:ext cx="1840000" cy="15000"/>
          </a:xfrm>
          <a:prstGeom prst="rect">
            <a:avLst/>
          </a:prstGeom>
          <a:solidFill>
            <a:srgbClr val="FFA7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760000" y="3710000"/>
            <a:ext cx="200000" cy="200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FFA726"/>
                </a:solidFill>
              </a:defRPr>
            </a:pPr>
            <a:r>
              <a:t>→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930000" y="3610000"/>
            <a:ext cx="1840000" cy="180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000" b="0">
                <a:solidFill>
                  <a:srgbClr val="FFA726"/>
                </a:solidFill>
              </a:defRPr>
            </a:pPr>
            <a:r>
              <a:t>persist(EncouragementSet)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030000" y="4210000"/>
            <a:ext cx="7540000" cy="15000"/>
          </a:xfrm>
          <a:prstGeom prst="rect">
            <a:avLst/>
          </a:prstGeom>
          <a:solidFill>
            <a:srgbClr val="88B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560000" y="4130000"/>
            <a:ext cx="200000" cy="200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88BBFF"/>
                </a:solidFill>
              </a:defRPr>
            </a:pPr>
            <a:r>
              <a:t>→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030000" y="4030000"/>
            <a:ext cx="7540000" cy="180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000" b="0">
                <a:solidFill>
                  <a:srgbClr val="88BBFF"/>
                </a:solidFill>
              </a:defRPr>
            </a:pPr>
            <a:r>
              <a:t>refreshProjection()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030000" y="4630000"/>
            <a:ext cx="7540000" cy="15000"/>
          </a:xfrm>
          <a:prstGeom prst="rect">
            <a:avLst/>
          </a:prstGeom>
          <a:solidFill>
            <a:srgbClr val="88B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930000" y="4550000"/>
            <a:ext cx="200000" cy="200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88BBFF"/>
                </a:solidFill>
              </a:defRPr>
            </a:pPr>
            <a:r>
              <a:t>←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030000" y="4450000"/>
            <a:ext cx="7540000" cy="180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000" b="0">
                <a:solidFill>
                  <a:srgbClr val="88BBFF"/>
                </a:solidFill>
              </a:defRPr>
            </a:pPr>
            <a:r>
              <a:t>GiftCardView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130000" y="5260000"/>
            <a:ext cx="1840000" cy="15000"/>
          </a:xfrm>
          <a:prstGeom prst="rect">
            <a:avLst/>
          </a:prstGeom>
          <a:solidFill>
            <a:srgbClr val="22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30000" y="5180000"/>
            <a:ext cx="200000" cy="200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2266AA"/>
                </a:solidFill>
              </a:defRPr>
            </a:pPr>
            <a:r>
              <a:t>←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0000" y="5080000"/>
            <a:ext cx="1840000" cy="180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000" b="0">
                <a:solidFill>
                  <a:srgbClr val="2266AA"/>
                </a:solidFill>
              </a:defRPr>
            </a:pPr>
            <a:r>
              <a:t>201 { balance, encouragement, ... }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00000" y="3350000"/>
            <a:ext cx="3200000" cy="5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900" b="1">
                <a:solidFill>
                  <a:srgbClr val="FFA726"/>
                </a:solidFill>
              </a:defRPr>
            </a:pPr>
            <a:r>
              <a:t>⟲ back through decide()</a:t>
            </a:r>
            <a:br/>
            <a:r>
              <a:t>   same loop, new event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" y="6200000"/>
            <a:ext cx="10728655" cy="400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1">
                <a:solidFill>
                  <a:srgbClr val="888888"/>
                </a:solidFill>
              </a:defRPr>
            </a:pPr>
            <a:r>
              <a:t>ctx.sync() result → Command → decide() → Event.  The loop from slide 11. Same pattern for LLM, payment, anything.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600000"/>
            <a:ext cx="10728655" cy="800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400" b="1">
                <a:solidFill>
                  <a:srgbClr val="FFFFFF"/>
                </a:solidFill>
              </a:defRPr>
            </a:pPr>
            <a:r>
              <a:t>BREAK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600000"/>
            <a:ext cx="10728655" cy="600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200" b="0">
                <a:solidFill>
                  <a:srgbClr val="888888"/>
                </a:solidFill>
              </a:defRPr>
            </a:pPr>
            <a:r>
              <a:t>5 minutes  •  stretch  •  refill coffee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800000"/>
            <a:ext cx="10728655" cy="400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800" b="0">
                <a:solidFill>
                  <a:srgbClr val="66BB6A"/>
                </a:solidFill>
              </a:defRPr>
            </a:pPr>
            <a:r>
              <a:t>Next up: the read side — projections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EC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8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222222"/>
                </a:solidFill>
              </a:defRPr>
            </a:pPr>
            <a:r>
              <a:t>WRITE SIDE VS READ SIDE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00000"/>
            <a:ext cx="10728655" cy="36000"/>
          </a:xfrm>
          <a:prstGeom prst="rect">
            <a:avLst/>
          </a:prstGeom>
          <a:solidFill>
            <a:srgbClr val="22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800000"/>
            <a:ext cx="4800000" cy="2500000"/>
          </a:xfrm>
          <a:prstGeom prst="roundRect">
            <a:avLst>
              <a:gd name="adj" fmla="val 5000"/>
            </a:avLst>
          </a:prstGeom>
          <a:solidFill>
            <a:srgbClr val="22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900000" y="1900000"/>
            <a:ext cx="4400000" cy="4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1">
                <a:solidFill>
                  <a:srgbClr val="FFFFFF"/>
                </a:solidFill>
              </a:defRPr>
            </a:pPr>
            <a:r>
              <a:t>WRITE SIDE (aggregate)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0000" y="2400000"/>
            <a:ext cx="4400000" cy="35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FFFFFF"/>
                </a:solidFill>
              </a:defRPr>
            </a:pPr>
            <a:r>
              <a:t>• decide() — validates, produces events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2800000"/>
            <a:ext cx="4400000" cy="35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FFFFFF"/>
                </a:solidFill>
              </a:defRPr>
            </a:pPr>
            <a:r>
              <a:t>• apply() — state for decisions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0000" y="3200000"/>
            <a:ext cx="4400000" cy="35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FFFFFF"/>
                </a:solidFill>
              </a:defRPr>
            </a:pPr>
            <a:r>
              <a:t>• Optimized for consistency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0000" y="3600000"/>
            <a:ext cx="4400000" cy="35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FFFFFF"/>
                </a:solidFill>
              </a:defRPr>
            </a:pPr>
            <a:r>
              <a:t>• One entity at a time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00000" y="1800000"/>
            <a:ext cx="4800000" cy="2500000"/>
          </a:xfrm>
          <a:prstGeom prst="roundRect">
            <a:avLst>
              <a:gd name="adj" fmla="val 5000"/>
            </a:avLst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000" y="1900000"/>
            <a:ext cx="4400000" cy="4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1">
                <a:solidFill>
                  <a:srgbClr val="FFFFFF"/>
                </a:solidFill>
              </a:defRPr>
            </a:pPr>
            <a:r>
              <a:t>READ SIDE (projection)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000" y="2400000"/>
            <a:ext cx="4400000" cy="35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FFFFFF"/>
                </a:solidFill>
              </a:defRPr>
            </a:pPr>
            <a:r>
              <a:t>• evolve() — builds query-optimized views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0" y="2800000"/>
            <a:ext cx="4400000" cy="35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FFFFFF"/>
                </a:solidFill>
              </a:defRPr>
            </a:pPr>
            <a:r>
              <a:t>• Can include derived data (counts, aggregations)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000" y="3200000"/>
            <a:ext cx="4400000" cy="35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FFFFFF"/>
                </a:solidFill>
              </a:defRPr>
            </a:pPr>
            <a:r>
              <a:t>• Optimized for queries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000" y="3600000"/>
            <a:ext cx="4400000" cy="35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FFFFFF"/>
                </a:solidFill>
              </a:defRPr>
            </a:pPr>
            <a:r>
              <a:t>• Can span multiple entities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00000" y="2700000"/>
            <a:ext cx="1000000" cy="400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3600" b="1">
                <a:solidFill>
                  <a:srgbClr val="FFA726"/>
                </a:solidFill>
              </a:defRPr>
            </a:pPr>
            <a:r>
              <a:t>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800000"/>
            <a:ext cx="10728655" cy="400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000" b="1">
                <a:solidFill>
                  <a:srgbClr val="222222"/>
                </a:solidFill>
              </a:defRPr>
            </a:pPr>
            <a:r>
              <a:t>Same pattern: pure function, event in → new state out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5400000"/>
            <a:ext cx="10728655" cy="600000"/>
          </a:xfrm>
          <a:prstGeom prst="roundRect">
            <a:avLst>
              <a:gd name="adj" fmla="val 2000"/>
            </a:avLst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tIns="152400" rIns="203200" bIns="152400"/>
          <a:lstStyle/>
          <a:p>
            <a:pPr algn="ctr">
              <a:defRPr sz="1600">
                <a:solidFill>
                  <a:srgbClr val="FFFFFF"/>
                </a:solidFill>
                <a:latin typeface="SF Mono"/>
              </a:defRPr>
            </a:pPr>
            <a:r>
              <a:t>// Write side                          // Read side</a:t>
            </a:r>
            <a:br/>
            <a:r>
              <a:t>apply(state, event) → State           evolve(view, event) → View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EC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8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400" b="1">
                <a:solidFill>
                  <a:srgbClr val="66BB6A"/>
                </a:solidFill>
              </a:defRPr>
            </a:pPr>
            <a:r>
              <a:t>EXERCISE 2: GIFT CARD PROJECTION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00000"/>
            <a:ext cx="10728655" cy="36000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000"/>
            <a:ext cx="10728655" cy="4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900" b="0">
                <a:solidFill>
                  <a:srgbClr val="444444"/>
                </a:solidFill>
              </a:defRPr>
            </a:pPr>
            <a:r>
              <a:t>Build a read model from gift card events: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200000"/>
            <a:ext cx="6500000" cy="1400000"/>
          </a:xfrm>
          <a:prstGeom prst="roundRect">
            <a:avLst>
              <a:gd name="adj" fmla="val 2000"/>
            </a:avLst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tIns="152400" rIns="203200" bIns="152400"/>
          <a:lstStyle/>
          <a:p>
            <a:pPr algn="ctr">
              <a:defRPr sz="1600">
                <a:solidFill>
                  <a:srgbClr val="FFFFFF"/>
                </a:solidFill>
                <a:latin typeface="SF Mono"/>
              </a:defRPr>
            </a:pPr>
            <a:r>
              <a:t>GiftCardView {</a:t>
            </a:r>
            <a:br/>
            <a:r>
              <a:t>  balance, status, recipientName,</a:t>
            </a:r>
            <a:br/>
            <a:r>
              <a:t>  encouragement,        // from LLM (demo)</a:t>
            </a:r>
            <a:br/>
            <a:r>
              <a:t>  transactionCount      // derived — aggregate doesn't track this!</a:t>
            </a:r>
            <a:br/>
            <a: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900000"/>
            <a:ext cx="6000000" cy="4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1">
                <a:solidFill>
                  <a:srgbClr val="222222"/>
                </a:solidFill>
              </a:defRPr>
            </a:pPr>
            <a:r>
              <a:t>Implement evolve() — same pattern as apply():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400000"/>
            <a:ext cx="10728655" cy="38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0">
                <a:solidFill>
                  <a:srgbClr val="222222"/>
                </a:solidFill>
              </a:defRPr>
            </a:pPr>
            <a:r>
              <a:t>• Issued → set balance, status, recipientName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780000"/>
            <a:ext cx="10728655" cy="38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0">
                <a:solidFill>
                  <a:srgbClr val="222222"/>
                </a:solidFill>
              </a:defRPr>
            </a:pPr>
            <a:r>
              <a:t>• Redeemed → subtract amount, increment transactionCount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160000"/>
            <a:ext cx="10728655" cy="38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0">
                <a:solidFill>
                  <a:srgbClr val="222222"/>
                </a:solidFill>
              </a:defRPr>
            </a:pPr>
            <a:r>
              <a:t>• Cancelled → zero balance, set status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540000"/>
            <a:ext cx="10728655" cy="38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0">
                <a:solidFill>
                  <a:srgbClr val="222222"/>
                </a:solidFill>
              </a:defRPr>
            </a:pPr>
            <a:r>
              <a:t>• EncouragementSet → set encouragement text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900000"/>
            <a:ext cx="5500000" cy="500000"/>
          </a:xfrm>
          <a:prstGeom prst="roundRect">
            <a:avLst>
              <a:gd name="adj" fmla="val 2000"/>
            </a:avLst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tIns="152400" rIns="203200" bIns="152400"/>
          <a:lstStyle/>
          <a:p>
            <a:pPr algn="ctr">
              <a:defRPr sz="1600">
                <a:solidFill>
                  <a:srgbClr val="FFFFFF"/>
                </a:solidFill>
                <a:latin typeface="SF Mono"/>
              </a:defRPr>
            </a:pPr>
            <a:r>
              <a:t>npm run test:projection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00000" y="5950000"/>
            <a:ext cx="5000000" cy="5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200" b="1">
                <a:solidFill>
                  <a:srgbClr val="66BB6A"/>
                </a:solidFill>
              </a:defRPr>
            </a:pPr>
            <a:r>
              <a:t>8 tests. Make them green.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00000"/>
            <a:ext cx="10728655" cy="1000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4800" b="1">
                <a:solidFill>
                  <a:srgbClr val="66BB6A"/>
                </a:solidFill>
              </a:defRPr>
            </a:pPr>
            <a:r>
              <a:t>EXERCISE 2: PROJECTION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400000"/>
            <a:ext cx="10728655" cy="600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200" b="0">
                <a:solidFill>
                  <a:srgbClr val="888888"/>
                </a:solidFill>
              </a:defRPr>
            </a:pPr>
            <a:r>
              <a:t>20 minutes  •  8 tests  •  implement evolve()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600000"/>
            <a:ext cx="10728655" cy="400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800" b="0">
                <a:solidFill>
                  <a:srgbClr val="66BB6A"/>
                </a:solidFill>
                <a:latin typeface="SF Mono"/>
              </a:defRPr>
            </a:pPr>
            <a:r>
              <a:t>npm run test:projection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400000"/>
            <a:ext cx="10728655" cy="400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600" b="0">
                <a:solidFill>
                  <a:srgbClr val="888888"/>
                </a:solidFill>
              </a:defRPr>
            </a:pPr>
            <a:r>
              <a:t>Same pattern as apply()  •  HINTS-projection.md if stuck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EC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8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222222"/>
                </a:solidFill>
              </a:defRPr>
            </a:pPr>
            <a:r>
              <a:t>EXERCISE 2: DEBRIEF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00000"/>
            <a:ext cx="10728655" cy="36000"/>
          </a:xfrm>
          <a:prstGeom prst="rect">
            <a:avLst/>
          </a:prstGeom>
          <a:solidFill>
            <a:srgbClr val="22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000"/>
            <a:ext cx="10728655" cy="4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000" b="1">
                <a:solidFill>
                  <a:srgbClr val="222222"/>
                </a:solidFill>
              </a:defRPr>
            </a:pPr>
            <a:r>
              <a:t>Three pure functions — that's the whole model: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200000"/>
            <a:ext cx="8000000" cy="1000000"/>
          </a:xfrm>
          <a:prstGeom prst="roundRect">
            <a:avLst>
              <a:gd name="adj" fmla="val 2000"/>
            </a:avLst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tIns="152400" rIns="203200" bIns="152400"/>
          <a:lstStyle/>
          <a:p>
            <a:pPr algn="ctr">
              <a:defRPr sz="1800">
                <a:solidFill>
                  <a:srgbClr val="FFFFFF"/>
                </a:solidFill>
                <a:latin typeface="SF Mono"/>
              </a:defRPr>
            </a:pPr>
            <a:r>
              <a:t>decide(state, command)  → Effect     // business logic</a:t>
            </a:r>
            <a:br/>
            <a:r>
              <a:t>apply(state, event)     → State      // write-side fold</a:t>
            </a:r>
            <a:br/>
            <a:r>
              <a:t>evolve(view, event)     → View       // read-side fold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600000"/>
            <a:ext cx="10728655" cy="4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1">
                <a:solidFill>
                  <a:srgbClr val="222222"/>
                </a:solidFill>
              </a:defRPr>
            </a:pPr>
            <a:r>
              <a:t>What the projection gave you that the aggregate doesn't: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100000"/>
            <a:ext cx="10728655" cy="5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700" b="0">
                <a:solidFill>
                  <a:srgbClr val="2266AA"/>
                </a:solidFill>
              </a:defRPr>
            </a:pPr>
            <a:r>
              <a:t>• transactionCount — derived data, computed from event stream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600000"/>
            <a:ext cx="10728655" cy="5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700" b="0">
                <a:solidFill>
                  <a:srgbClr val="2266AA"/>
                </a:solidFill>
              </a:defRPr>
            </a:pPr>
            <a:r>
              <a:t>• encouragement — data from a different event (LLM callback)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100000"/>
            <a:ext cx="10728655" cy="5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700" b="0">
                <a:solidFill>
                  <a:srgbClr val="2266AA"/>
                </a:solidFill>
              </a:defRPr>
            </a:pPr>
            <a:r>
              <a:t>• Optimized for queries — flat shape, no business rules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600000"/>
            <a:ext cx="10728655" cy="5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700" b="0">
                <a:solidFill>
                  <a:srgbClr val="2266AA"/>
                </a:solidFill>
              </a:defRPr>
            </a:pPr>
            <a:r>
              <a:t>• Can be rebuilt anytime from the event journal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EC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8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66BB6A"/>
                </a:solidFill>
              </a:defRPr>
            </a:pPr>
            <a:r>
              <a:t>EXERCISE 3: AI-GENERATE A FRONTEND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00000"/>
            <a:ext cx="10728655" cy="36000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000"/>
            <a:ext cx="10728655" cy="4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900" b="0">
                <a:solidFill>
                  <a:srgbClr val="444444"/>
                </a:solidFill>
              </a:defRPr>
            </a:pPr>
            <a:r>
              <a:t>Your service has both write and read APIs. One prompt → working UI.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00000"/>
            <a:ext cx="10728655" cy="4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1">
                <a:solidFill>
                  <a:srgbClr val="222222"/>
                </a:solidFill>
              </a:defRPr>
            </a:pPr>
            <a:r>
              <a:t>The setup: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700000"/>
            <a:ext cx="10728655" cy="5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700" b="0">
                <a:solidFill>
                  <a:srgbClr val="222222"/>
                </a:solidFill>
              </a:defRPr>
            </a:pPr>
            <a:r>
              <a:t>• Open PROMPT-frontend.md — it references openapi.yaml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200000"/>
            <a:ext cx="10728655" cy="5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700" b="0">
                <a:solidFill>
                  <a:srgbClr val="222222"/>
                </a:solidFill>
              </a:defRPr>
            </a:pPr>
            <a:r>
              <a:t>• Copy the prompt into your AI coding agent (Claude Code, Cursor, etc.)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700000"/>
            <a:ext cx="10728655" cy="5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700" b="0">
                <a:solidFill>
                  <a:srgbClr val="222222"/>
                </a:solidFill>
              </a:defRPr>
            </a:pPr>
            <a:r>
              <a:t>• It generates public/index.html — vanilla HTML/CSS/JS, no build tools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200000"/>
            <a:ext cx="10728655" cy="5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700" b="0">
                <a:solidFill>
                  <a:srgbClr val="222222"/>
                </a:solidFill>
              </a:defRPr>
            </a:pPr>
            <a:r>
              <a:t>• npm start → open http://localhost:3000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000000"/>
            <a:ext cx="10728655" cy="5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0">
                <a:solidFill>
                  <a:srgbClr val="888888"/>
                </a:solidFill>
              </a:defRPr>
            </a:pPr>
            <a:r>
              <a:t>The AI reads the OpenAPI spec and writes the frontend for you.</a:t>
            </a:r>
            <a:br/>
            <a:r>
              <a:t>Reference solution: public-solution/index.html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00000"/>
            <a:ext cx="10728655" cy="1000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4800" b="1">
                <a:solidFill>
                  <a:srgbClr val="66BB6A"/>
                </a:solidFill>
              </a:defRPr>
            </a:pPr>
            <a:r>
              <a:t>EXERCISE 3: AI FRONTEND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400000"/>
            <a:ext cx="10728655" cy="600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200" b="0">
                <a:solidFill>
                  <a:srgbClr val="888888"/>
                </a:solidFill>
              </a:defRPr>
            </a:pPr>
            <a:r>
              <a:t>10 minutes  •  one prompt  •  full working UI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400000"/>
            <a:ext cx="10728655" cy="400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800" b="0">
                <a:solidFill>
                  <a:srgbClr val="66BB6A"/>
                </a:solidFill>
                <a:latin typeface="SF Mono"/>
              </a:defRPr>
            </a:pPr>
            <a:r>
              <a:t>PROMPT-frontend.md → your AI agent → public/index.html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400000"/>
            <a:ext cx="10728655" cy="400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600" b="0">
                <a:solidFill>
                  <a:srgbClr val="888888"/>
                </a:solidFill>
              </a:defRPr>
            </a:pPr>
            <a:r>
              <a:t>npm start  •  http://localhost:3000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EC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8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9C27B0"/>
                </a:solidFill>
              </a:defRPr>
            </a:pPr>
            <a:r>
              <a:t>DEMO: LLM INTEGRATION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00000"/>
            <a:ext cx="10728655" cy="36000"/>
          </a:xfrm>
          <a:prstGeom prst="rect">
            <a:avLst/>
          </a:prstGeom>
          <a:solidFill>
            <a:srgbClr val="9C27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000"/>
            <a:ext cx="10728655" cy="4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0">
                <a:solidFill>
                  <a:srgbClr val="444444"/>
                </a:solidFill>
              </a:defRPr>
            </a:pPr>
            <a:r>
              <a:t>When a gift card is issued, ask an LLM to write a personal encouragement: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200000"/>
            <a:ext cx="9000000" cy="3200000"/>
          </a:xfrm>
          <a:prstGeom prst="roundRect">
            <a:avLst>
              <a:gd name="adj" fmla="val 2000"/>
            </a:avLst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tIns="152400" rIns="203200" bIns="152400"/>
          <a:lstStyle/>
          <a:p>
            <a:pPr algn="ctr">
              <a:defRPr sz="1400">
                <a:solidFill>
                  <a:srgbClr val="FFFFFF"/>
                </a:solidFill>
                <a:latin typeface="SF Mono"/>
              </a:defRPr>
            </a:pPr>
            <a:r>
              <a:t>case "Issue": {</a:t>
            </a:r>
            <a:br/>
            <a:r>
              <a:t>  return andReply(</a:t>
            </a:r>
            <a:br/>
            <a:r>
              <a:t>    andRun(</a:t>
            </a:r>
            <a:br/>
            <a:r>
              <a:t>      persist({ tag: "Issued", ... }),</a:t>
            </a:r>
            <a:br/>
            <a:r>
              <a:t>      async () =&gt; {</a:t>
            </a:r>
            <a:br/>
            <a:r>
              <a:t>        await ctx.sync({                        // ← same pattern!</a:t>
            </a:r>
            <a:br/>
            <a:r>
              <a:t>          effect: () =&gt; generateEncouragement(name, amount),</a:t>
            </a:r>
            <a:br/>
            <a:r>
              <a:t>          onSuccess: (r) =&gt; ({ tag: "SetEncouragement", text: r.text }),</a:t>
            </a:r>
            <a:br/>
            <a:r>
              <a:t>          onFailure: (_) =&gt; ({ tag: "SetEncouragement", text: fallback }),</a:t>
            </a:r>
            <a:br/>
            <a:r>
              <a:t>        });</a:t>
            </a:r>
            <a:br/>
            <a:r>
              <a:t>      },</a:t>
            </a:r>
            <a:br/>
            <a:r>
              <a:t>    ),</a:t>
            </a:r>
            <a:br/>
            <a:r>
              <a:t>    { tag: "Ok" },</a:t>
            </a:r>
            <a:br/>
            <a:r>
              <a:t>  );</a:t>
            </a:r>
            <a:br/>
            <a: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700000"/>
            <a:ext cx="10728655" cy="4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1">
                <a:solidFill>
                  <a:srgbClr val="9C27B0"/>
                </a:solidFill>
              </a:defRPr>
            </a:pPr>
            <a:r>
              <a:t>ctx.sync() — same pattern for LLM, payment gateway, shipping API. Event sourcing gives you retry, replay, audit — for free.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EC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8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222222"/>
                </a:solidFill>
              </a:defRPr>
            </a:pPr>
            <a:r>
              <a:t>THE FULL PICTURE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00000"/>
            <a:ext cx="10728655" cy="36000"/>
          </a:xfrm>
          <a:prstGeom prst="rect">
            <a:avLst/>
          </a:prstGeom>
          <a:solidFill>
            <a:srgbClr val="22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00000" y="1500000"/>
            <a:ext cx="3000000" cy="500000"/>
          </a:xfrm>
          <a:prstGeom prst="roundRect">
            <a:avLst>
              <a:gd name="adj" fmla="val 5000"/>
            </a:avLst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Browser — localhost:3000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00000" y="2050000"/>
            <a:ext cx="800000" cy="400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400" b="1">
                <a:solidFill>
                  <a:srgbClr val="444444"/>
                </a:solidFill>
              </a:defRPr>
            </a:pPr>
            <a:r>
              <a:t>↓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00000" y="2400000"/>
            <a:ext cx="9000000" cy="600000"/>
          </a:xfrm>
          <a:prstGeom prst="roundRect">
            <a:avLst>
              <a:gd name="adj" fmla="val 5000"/>
            </a:avLst>
          </a:prstGeom>
          <a:solidFill>
            <a:srgbClr val="22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700000" y="2450000"/>
            <a:ext cx="8600000" cy="250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HTTP Layer — Hono (REST → TEOB commands)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00000" y="2700000"/>
            <a:ext cx="8600000" cy="250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000" b="0">
                <a:solidFill>
                  <a:srgbClr val="BBDDFF"/>
                </a:solidFill>
                <a:latin typeface="SF Mono"/>
              </a:defRPr>
            </a:pPr>
            <a:r>
              <a:t>POST /gift-cards   GET /gift-cards   GET /:id   POST /:id/redeem   POST /:id/cancel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00000" y="3050000"/>
            <a:ext cx="800000" cy="400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400" b="1">
                <a:solidFill>
                  <a:srgbClr val="444444"/>
                </a:solidFill>
              </a:defRPr>
            </a:pPr>
            <a:r>
              <a:t>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00000" y="3050000"/>
            <a:ext cx="800000" cy="400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400" b="1">
                <a:solidFill>
                  <a:srgbClr val="444444"/>
                </a:solidFill>
              </a:defRPr>
            </a:pPr>
            <a:r>
              <a:t>↓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500000" y="3400000"/>
            <a:ext cx="4200000" cy="2400000"/>
          </a:xfrm>
          <a:prstGeom prst="roundRect">
            <a:avLst>
              <a:gd name="adj" fmla="val 5000"/>
            </a:avLst>
          </a:prstGeom>
          <a:solidFill>
            <a:srgbClr val="052E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1600000" y="3480000"/>
            <a:ext cx="4000000" cy="3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1">
                <a:solidFill>
                  <a:srgbClr val="66BB6A"/>
                </a:solidFill>
              </a:defRPr>
            </a:pPr>
            <a:r>
              <a:t>WRITE SIDE — Aggregate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650000" y="3900000"/>
            <a:ext cx="3900000" cy="650000"/>
          </a:xfrm>
          <a:prstGeom prst="roundRect">
            <a:avLst>
              <a:gd name="adj" fmla="val 2000"/>
            </a:avLst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tIns="152400" rIns="203200" bIns="152400"/>
          <a:lstStyle/>
          <a:p>
            <a:pPr algn="ctr">
              <a:defRPr sz="1200">
                <a:solidFill>
                  <a:srgbClr val="FFFFFF"/>
                </a:solidFill>
                <a:latin typeface="SF Mono"/>
              </a:defRPr>
            </a:pPr>
            <a:r>
              <a:t>decide(state, cmd) → Effect</a:t>
            </a:r>
            <a:br/>
            <a:r>
              <a:t>apply(state, event) → State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50000" y="4700000"/>
            <a:ext cx="3900000" cy="8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66BB6A"/>
                </a:solidFill>
              </a:defRPr>
            </a:pPr>
            <a:r>
              <a:t>Invariants:</a:t>
            </a:r>
            <a:br/>
            <a:r>
              <a:t>• balance ≥ 0</a:t>
            </a:r>
            <a:br/>
            <a:r>
              <a:t>• cancelled → balance = 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650000" y="6000000"/>
            <a:ext cx="3900000" cy="400000"/>
          </a:xfrm>
          <a:prstGeom prst="roundRect">
            <a:avLst>
              <a:gd name="adj" fmla="val 5000"/>
            </a:avLst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888888"/>
                </a:solidFill>
              </a:defRPr>
            </a:pPr>
            <a:r>
              <a:t>Journal (events per entity)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0000" y="3400000"/>
            <a:ext cx="4200000" cy="2400000"/>
          </a:xfrm>
          <a:prstGeom prst="roundRect">
            <a:avLst>
              <a:gd name="adj" fmla="val 5000"/>
            </a:avLst>
          </a:prstGeom>
          <a:solidFill>
            <a:srgbClr val="1725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400000" y="3480000"/>
            <a:ext cx="4000000" cy="3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READ SIDE — Projection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50000" y="3900000"/>
            <a:ext cx="3900000" cy="450000"/>
          </a:xfrm>
          <a:prstGeom prst="roundRect">
            <a:avLst>
              <a:gd name="adj" fmla="val 2000"/>
            </a:avLst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tIns="152400" rIns="203200" bIns="152400"/>
          <a:lstStyle/>
          <a:p>
            <a:pPr algn="ctr">
              <a:defRPr sz="1200">
                <a:solidFill>
                  <a:srgbClr val="FFFFFF"/>
                </a:solidFill>
                <a:latin typeface="SF Mono"/>
              </a:defRPr>
            </a:pPr>
            <a:r>
              <a:t>evolve(view, event) → View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50000" y="4500000"/>
            <a:ext cx="3900000" cy="11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88BBFF"/>
                </a:solidFill>
                <a:latin typeface="SF Mono"/>
              </a:defRPr>
            </a:pPr>
            <a:r>
              <a:t>GiftCardView:</a:t>
            </a:r>
            <a:br/>
            <a:r>
              <a:t>  balance, status,</a:t>
            </a:r>
            <a:br/>
            <a:r>
              <a:t>  recipientName,</a:t>
            </a:r>
            <a:br/>
            <a:r>
              <a:t>  encouragement,</a:t>
            </a:r>
            <a:br/>
            <a:r>
              <a:t>  transactionCount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50000" y="6000000"/>
            <a:ext cx="3900000" cy="400000"/>
          </a:xfrm>
          <a:prstGeom prst="roundRect">
            <a:avLst>
              <a:gd name="adj" fmla="val 5000"/>
            </a:avLst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888888"/>
                </a:solidFill>
              </a:defRPr>
            </a:pPr>
            <a:r>
              <a:t>Projection Store (views per entity)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00000" y="4500000"/>
            <a:ext cx="1300000" cy="400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1">
                <a:solidFill>
                  <a:srgbClr val="FFA726"/>
                </a:solidFill>
              </a:defRPr>
            </a:pPr>
            <a:r>
              <a:t>events →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EC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8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222222"/>
                </a:solidFill>
              </a:defRPr>
            </a:pPr>
            <a:r>
              <a:t>BATTLE TESTED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00000"/>
            <a:ext cx="10728655" cy="36000"/>
          </a:xfrm>
          <a:prstGeom prst="rect">
            <a:avLst/>
          </a:prstGeom>
          <a:solidFill>
            <a:srgbClr val="22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00000"/>
            <a:ext cx="10728655" cy="9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100" b="1">
                <a:solidFill>
                  <a:srgbClr val="222222"/>
                </a:solidFill>
              </a:defRPr>
            </a:pPr>
            <a:r>
              <a:t>• Natively CQS — for (almost) infinite scaling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700000"/>
            <a:ext cx="10728655" cy="9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100" b="1">
                <a:solidFill>
                  <a:srgbClr val="222222"/>
                </a:solidFill>
              </a:defRPr>
            </a:pPr>
            <a:r>
              <a:t>• FP and DDD — to express intrinsically complex data and rules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600000"/>
            <a:ext cx="10728655" cy="9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100" b="1">
                <a:solidFill>
                  <a:srgbClr val="222222"/>
                </a:solidFill>
              </a:defRPr>
            </a:pPr>
            <a:r>
              <a:t>• Everything is executed deterministically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500000"/>
            <a:ext cx="10728655" cy="9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100" b="1">
                <a:solidFill>
                  <a:srgbClr val="222222"/>
                </a:solidFill>
              </a:defRPr>
            </a:pPr>
            <a:r>
              <a:t>• 10+ years of real production (fintech) experience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000000"/>
            <a:ext cx="10728655" cy="800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WHAT'S NEXT?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800000"/>
            <a:ext cx="10728655" cy="36000"/>
          </a:xfrm>
          <a:prstGeom prst="rect">
            <a:avLst/>
          </a:prstGeom>
          <a:solidFill>
            <a:srgbClr val="22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2100000"/>
            <a:ext cx="400000" cy="400000"/>
          </a:xfrm>
          <a:prstGeom prst="roundRect">
            <a:avLst>
              <a:gd name="adj" fmla="val 5000"/>
            </a:avLst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00000" y="2100000"/>
            <a:ext cx="5000000" cy="4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000" b="1">
                <a:solidFill>
                  <a:srgbClr val="FFFFFF"/>
                </a:solidFill>
              </a:defRPr>
            </a:pPr>
            <a:r>
              <a:t>Clone the repo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00000" y="2450000"/>
            <a:ext cx="10000000" cy="35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500" b="0">
                <a:solidFill>
                  <a:srgbClr val="888888"/>
                </a:solidFill>
              </a:defRPr>
            </a:pPr>
            <a:r>
              <a:t>github.com/lambda-house/teob-ts-workshop-gift-card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900000"/>
            <a:ext cx="400000" cy="400000"/>
          </a:xfrm>
          <a:prstGeom prst="roundRect">
            <a:avLst>
              <a:gd name="adj" fmla="val 5000"/>
            </a:avLst>
          </a:prstGeom>
          <a:solidFill>
            <a:srgbClr val="22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00000" y="2900000"/>
            <a:ext cx="5000000" cy="4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000" b="1">
                <a:solidFill>
                  <a:srgbClr val="FFFFFF"/>
                </a:solidFill>
              </a:defRPr>
            </a:pPr>
            <a:r>
              <a:t>Try at home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00000" y="3250000"/>
            <a:ext cx="10000000" cy="35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500" b="0">
                <a:solidFill>
                  <a:srgbClr val="888888"/>
                </a:solidFill>
              </a:defRPr>
            </a:pPr>
            <a:r>
              <a:t>Add Freeze/Unfreeze commands, transaction history in the view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700000"/>
            <a:ext cx="400000" cy="400000"/>
          </a:xfrm>
          <a:prstGeom prst="roundRect">
            <a:avLst>
              <a:gd name="adj" fmla="val 5000"/>
            </a:avLst>
          </a:prstGeom>
          <a:solidFill>
            <a:srgbClr val="22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00000" y="3700000"/>
            <a:ext cx="5000000" cy="4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000" b="1">
                <a:solidFill>
                  <a:srgbClr val="FFFFFF"/>
                </a:solidFill>
              </a:defRPr>
            </a:pPr>
            <a:r>
              <a:t>Scaffold your own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00000" y="4050000"/>
            <a:ext cx="10000000" cy="35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500" b="0">
                <a:solidFill>
                  <a:srgbClr val="888888"/>
                </a:solidFill>
              </a:defRPr>
            </a:pPr>
            <a:r>
              <a:t>npx teob new aggregate — working code in seconds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500000"/>
            <a:ext cx="400000" cy="400000"/>
          </a:xfrm>
          <a:prstGeom prst="roundRect">
            <a:avLst>
              <a:gd name="adj" fmla="val 5000"/>
            </a:avLst>
          </a:prstGeom>
          <a:solidFill>
            <a:srgbClr val="FFA7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0000" y="4500000"/>
            <a:ext cx="5000000" cy="4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000" b="1">
                <a:solidFill>
                  <a:srgbClr val="FFFFFF"/>
                </a:solidFill>
              </a:defRPr>
            </a:pPr>
            <a:r>
              <a:t>Watch the recording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00000" y="4850000"/>
            <a:ext cx="10000000" cy="35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500" b="0">
                <a:solidFill>
                  <a:srgbClr val="888888"/>
                </a:solidFill>
              </a:defRPr>
            </a:pPr>
            <a:r>
              <a:t>Solution walkthroughs with chapter markers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300000"/>
            <a:ext cx="400000" cy="400000"/>
          </a:xfrm>
          <a:prstGeom prst="roundRect">
            <a:avLst>
              <a:gd name="adj" fmla="val 5000"/>
            </a:avLst>
          </a:prstGeom>
          <a:solidFill>
            <a:srgbClr val="9C27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00000" y="5300000"/>
            <a:ext cx="5000000" cy="4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000" b="1">
                <a:solidFill>
                  <a:srgbClr val="FFFFFF"/>
                </a:solidFill>
              </a:defRPr>
            </a:pPr>
            <a:r>
              <a:t>Next workshop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0000" y="5650000"/>
            <a:ext cx="10000000" cy="35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500" b="0">
                <a:solidFill>
                  <a:srgbClr val="888888"/>
                </a:solidFill>
              </a:defRPr>
            </a:pPr>
            <a:r>
              <a:t>Episode 2: Sagas &amp; Cross-Aggregate Communication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6200000"/>
            <a:ext cx="10728655" cy="400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Thank you!  •  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