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0:00–0:05</a:t>
            </a:r>
          </a:p>
          <a:p>
            <a:r>
              <a:t>Welcome everyone. Before slides — ask the room:</a:t>
            </a:r>
          </a:p>
          <a:p>
            <a:r>
              <a:t>"What broke in your last distributed system?"</a:t>
            </a:r>
          </a:p>
          <a:p>
            <a:r>
              <a:t>Let 2-3 people share war stories. This primes them for why DDD + ES matters.</a:t>
            </a:r>
          </a:p>
          <a:p>
            <a:r>
              <a:t>Then: "Today you'll build a complete event-sourced gift card service."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0:05–0:08</a:t>
            </a:r>
          </a:p>
          <a:p>
            <a:r>
              <a:t>"One domain — gift cards. Four layers of capability."</a:t>
            </a:r>
          </a:p>
          <a:p>
            <a:r>
              <a:t>"You'll write code for 1 and 3. I'll demo 2 and 4."</a:t>
            </a:r>
          </a:p>
          <a:p>
            <a:r>
              <a:t>"By the end you'll have a running HTTP service with AI integration."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0:08–0:10</a:t>
            </a:r>
          </a:p>
          <a:p>
            <a:r>
              <a:t>This calibrates your depth.</a:t>
            </a:r>
          </a:p>
          <a:p>
            <a:r>
              <a:t>If most have DDD experience → skip basics, go deeper on TEOB specifics.</a:t>
            </a:r>
          </a:p>
          <a:p>
            <a:r>
              <a:t>If Akka/Axon users → draw parallels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0:10–0:12</a:t>
            </a:r>
          </a:p>
          <a:p>
            <a:r>
              <a:t>"Green blocks = you write code. Blue/purple = I demo live."</a:t>
            </a:r>
          </a:p>
          <a:p>
            <a:r>
              <a:t>"One domain all the way through — each layer builds on the last."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0:12–0:16</a:t>
            </a:r>
          </a:p>
          <a:p>
            <a:r>
              <a:t>"This is what most of us build day to day."</a:t>
            </a:r>
          </a:p>
          <a:p>
            <a:r>
              <a:t>Don't dwell — this is the setup for why ES is different.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0:16–0:18</a:t>
            </a:r>
          </a:p>
          <a:p>
            <a:r>
              <a:t>"What if we could have ALL of these?"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0:18–0:20</a:t>
            </a:r>
          </a:p>
          <a:p>
            <a:r>
              <a:t>"You'll implement exactly this pattern in 15 minutes."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0:20–0:23</a:t>
            </a:r>
          </a:p>
          <a:p>
            <a:r>
              <a:t>"Instead of updating a row, we append facts."</a:t>
            </a:r>
          </a:p>
          <a:p>
            <a:r>
              <a:t>Draw parallel to git: commits are events, working directory is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0:23–0:27</a:t>
            </a:r>
          </a:p>
          <a:p>
            <a:r>
              <a:t>THIS IS THE CORE MENTAL MODEL. Spend time here.</a:t>
            </a:r>
          </a:p>
          <a:p>
            <a:r>
              <a:t>"decide() is WHERE your business logic lives."</a:t>
            </a:r>
          </a:p>
          <a:p>
            <a:r>
              <a:t>"apply() is PURE — no logic, just state transitions."</a:t>
            </a:r>
          </a:p>
          <a:p>
            <a:r>
              <a:t>Ask: "Why can't we put logic in apply?" → Because replay would re-validate.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0:27–0:30</a:t>
            </a:r>
          </a:p>
          <a:p>
            <a:r>
              <a:t>Highlight persist + andReply — they'll use these in Exercise 1.</a:t>
            </a:r>
          </a:p>
          <a:p>
            <a:r>
              <a:t>Mention andRun — they'll see it in the LLM demo.</a:t>
            </a:r>
          </a:p>
          <a:p>
            <a:r>
              <a:t>"decide returns a recipe, the runtime executes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0:30–0:35</a:t>
            </a:r>
          </a:p>
          <a:p>
            <a:r>
              <a:t>THE AHA SLIDE. Go row by row.</a:t>
            </a:r>
          </a:p>
          <a:p>
            <a:r>
              <a:t>"If you know DDD, you already know TEOB."</a:t>
            </a:r>
          </a:p>
          <a:p>
            <a:r>
              <a:t>Pause for questions before Exercise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0:35–0:38</a:t>
            </a:r>
          </a:p>
          <a:p>
            <a:r>
              <a:t>"The core is DDD. The extras are what make it practical."</a:t>
            </a:r>
          </a:p>
          <a:p>
            <a:r>
              <a:t>Mention projections — they'll build one in Exercise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0:38–0:40</a:t>
            </a:r>
          </a:p>
          <a:p>
            <a:r>
              <a:t>"Your business logic doesn't know or care about the database."</a:t>
            </a:r>
          </a:p>
          <a:p>
            <a:r>
              <a:t>"In exercises, we use InMemoryRuntime. In production, swap to Postgres."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0:40–0:42</a:t>
            </a:r>
          </a:p>
          <a:p>
            <a:r>
              <a:t>LIVE DEMO: Run tests. Show 13 failing.</a:t>
            </a:r>
          </a:p>
          <a:p>
            <a:r>
              <a:t>"Start with Issue — it's the simplest. The hints are in HINTS-aggregate.md."</a:t>
            </a:r>
          </a:p>
          <a:p>
            <a:r>
              <a:t>"Solution is in aggregate.solution.ts — but try first!"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0:42–1:12 (30 min)</a:t>
            </a:r>
          </a:p>
          <a:p>
            <a:r>
              <a:t>LEAVE THIS SLIDE UP.</a:t>
            </a:r>
          </a:p>
          <a:p>
            <a:r>
              <a:t>At 15 min: "How many tests green? More than 5?"</a:t>
            </a:r>
          </a:p>
          <a:p>
            <a:r>
              <a:t>At 25 min: Live-code Issue case if people are stuck.</a:t>
            </a:r>
          </a:p>
          <a:p>
            <a:r>
              <a:t>At 28 min: "2 minutes left."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1:12–1:17</a:t>
            </a:r>
          </a:p>
          <a:p>
            <a:r>
              <a:t>Live-code the solution if needed.</a:t>
            </a:r>
          </a:p>
          <a:p>
            <a:r>
              <a:t>"No database, no HTTP, no framework setup. Just domain logic."</a:t>
            </a:r>
          </a:p>
          <a:p>
            <a:r>
              <a:t>Ask: "What surprised you?"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1:17–1:22</a:t>
            </a:r>
          </a:p>
          <a:p>
            <a:r>
              <a:t>LIVE DEMO: Run `npm start`, then curl commands.</a:t>
            </a:r>
          </a:p>
          <a:p>
            <a:r>
              <a:t>Show: Ok reply → 200, Rejected → 400, ETag header.</a:t>
            </a:r>
          </a:p>
          <a:p>
            <a:r>
              <a:t>"Zero wiring code. aggregateRoutes() generates everything from your aggregate."</a:t>
            </a:r>
          </a:p>
          <a:p>
            <a:r>
              <a:t>"Your decide() is the API contract."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1:22–1:27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1:27–1:32</a:t>
            </a:r>
          </a:p>
          <a:p>
            <a:r>
              <a:t>"You already know the pattern — apply and evolve are the same shape."</a:t>
            </a:r>
          </a:p>
          <a:p>
            <a:r>
              <a:t>"The difference: evolve builds views optimized for queries, not decisions."</a:t>
            </a:r>
          </a:p>
          <a:p>
            <a:r>
              <a:t>"A view can include transactionCount — something the aggregate doesn't track."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1:32–1:35</a:t>
            </a:r>
          </a:p>
          <a:p>
            <a:r>
              <a:t>"You already know the pattern from apply(). This is the same thing, for queries."</a:t>
            </a:r>
          </a:p>
          <a:p>
            <a:r>
              <a:t>"The key difference: transactionCount. The aggregate doesn't track this — the projection does."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1:35–1:55 (20 min)</a:t>
            </a:r>
          </a:p>
          <a:p>
            <a:r>
              <a:t>This should go faster — they already know the pattern.</a:t>
            </a:r>
          </a:p>
          <a:p>
            <a:r>
              <a:t>At 10 min: Most should have Issued done.</a:t>
            </a:r>
          </a:p>
          <a:p>
            <a:r>
              <a:t>At 15 min: Show Hint 3 (Redeemed with transactionCount).</a:t>
            </a:r>
          </a:p>
          <a:p>
            <a:r>
              <a:t>At 18 min: "2 minutes left."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1:55–2:00</a:t>
            </a:r>
          </a:p>
          <a:p>
            <a:r>
              <a:t>"Three pure functions. That's the entire architecture."</a:t>
            </a:r>
          </a:p>
          <a:p>
            <a:r>
              <a:t>"decide for commands, apply for state, evolve for queries."</a:t>
            </a:r>
          </a:p>
          <a:p>
            <a:r>
              <a:t>"Now let me show you something exciting..."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2:00–2:10</a:t>
            </a:r>
          </a:p>
          <a:p>
            <a:r>
              <a:t>LIVE DEMO: Run `OPENROUTER_API_KEY=sk-... npm run demo:llm`</a:t>
            </a:r>
          </a:p>
          <a:p>
            <a:r>
              <a:t>Issue a card with a name → show the encouragement appearing.</a:t>
            </a:r>
          </a:p>
          <a:p>
            <a:r>
              <a:t>"ctx.sync() is the same pattern you'd use for ANY external call."</a:t>
            </a:r>
          </a:p>
          <a:p>
            <a:r>
              <a:t>"The LLM result comes back as a command, gets persisted as an event."</a:t>
            </a:r>
          </a:p>
          <a:p>
            <a:r>
              <a:t>"Crash? Replay from journal. Debug? Replay specific steps."</a:t>
            </a:r>
          </a:p>
          <a:p>
            <a:r>
              <a:t>THIS IS THE WOW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2:10–2:13</a:t>
            </a:r>
          </a:p>
          <a:p>
            <a:r>
              <a:t>"You built the green layer. Everything else is provided."</a:t>
            </a:r>
          </a:p>
          <a:p>
            <a:r>
              <a:t>"To go to production: swap InMemoryRuntime → PostgresRuntime."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2:13–2:15</a:t>
            </a:r>
          </a:p>
          <a:p>
            <a:r>
              <a:t>Credibility slide. Keep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2:15–2:20</a:t>
            </a:r>
          </a:p>
          <a:p>
            <a:r>
              <a:t>"You built an event-sourced service with a read model and AI integration."</a:t>
            </a:r>
          </a:p>
          <a:p>
            <a:r>
              <a:t>"Three pure functions. That's the whole architecture."</a:t>
            </a:r>
          </a:p>
          <a:p>
            <a:r>
              <a:t>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6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00000"/>
            <a:ext cx="10728655" cy="1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2222"/>
                </a:solidFill>
              </a:defRPr>
            </a:pPr>
            <a:r>
              <a:t>DDD WITH TEOB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00000"/>
            <a:ext cx="10728655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444444"/>
                </a:solidFill>
              </a:defRPr>
            </a:pPr>
            <a:r>
              <a:t>Hands-On Workshop: Event-Sourced Aggregates in TypeScript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888888"/>
                </a:solidFill>
              </a:defRPr>
            </a:pPr>
            <a:r>
              <a:t>Tim Evdokimov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WHAT YOU'LL BUILD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000"/>
            <a:ext cx="700000" cy="70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000" y="1650000"/>
            <a:ext cx="9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222222"/>
                </a:solidFill>
              </a:defRPr>
            </a:pPr>
            <a:r>
              <a:t>A DDD aggregate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0000" y="2000000"/>
            <a:ext cx="9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44444"/>
                </a:solidFill>
              </a:defRPr>
            </a:pPr>
            <a:r>
              <a:t>commands, events, state, invariants — pure functions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50000"/>
            <a:ext cx="700000" cy="70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0000" y="2900000"/>
            <a:ext cx="9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222222"/>
                </a:solidFill>
              </a:defRPr>
            </a:pPr>
            <a:r>
              <a:t>An HTTP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000" y="3250000"/>
            <a:ext cx="9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44444"/>
                </a:solidFill>
              </a:defRPr>
            </a:pPr>
            <a:r>
              <a:t>your aggregate becomes a live API in one 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00000"/>
            <a:ext cx="700000" cy="700000"/>
          </a:xfrm>
          <a:prstGeom prst="roundRect">
            <a:avLst>
              <a:gd name="adj" fmla="val 500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000" y="4150000"/>
            <a:ext cx="9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222222"/>
                </a:solidFill>
              </a:defRPr>
            </a:pPr>
            <a:r>
              <a:t>A read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000" y="4500000"/>
            <a:ext cx="9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44444"/>
                </a:solidFill>
              </a:defRPr>
            </a:pPr>
            <a:r>
              <a:t>project events into query-optimized 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50000"/>
            <a:ext cx="700000" cy="700000"/>
          </a:xfrm>
          <a:prstGeom prst="roundRect">
            <a:avLst>
              <a:gd name="adj" fmla="val 5000"/>
            </a:avLst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000" y="5400000"/>
            <a:ext cx="9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222222"/>
                </a:solidFill>
              </a:defRPr>
            </a:pPr>
            <a:r>
              <a:t>LLM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000" y="5750000"/>
            <a:ext cx="9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44444"/>
                </a:solidFill>
              </a:defRPr>
            </a:pPr>
            <a:r>
              <a:t>ctx.sync() calls OpenRouter — same pattern as any external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QUICK CHECK — SHOW OF HANDS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0000" y="1700000"/>
            <a:ext cx="100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222222"/>
                </a:solidFill>
              </a:defRPr>
            </a:pPr>
            <a:r>
              <a:t>✋  Who has implemented a DDD aggregate before?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2600000"/>
            <a:ext cx="100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222222"/>
                </a:solidFill>
              </a:defRPr>
            </a:pPr>
            <a:r>
              <a:t>✋  Who has worked with event sourcing in production?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3500000"/>
            <a:ext cx="100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222222"/>
                </a:solidFill>
              </a:defRPr>
            </a:pPr>
            <a:r>
              <a:t>✋  Who writes TypeScript regularly?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0" y="4400000"/>
            <a:ext cx="100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222222"/>
                </a:solidFill>
              </a:defRPr>
            </a:pPr>
            <a:r>
              <a:t>✋  Who has used Akka, Axon, or EventStoreDB?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THE ROAD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0000" y="2200000"/>
            <a:ext cx="1400000" cy="1800000"/>
          </a:xfrm>
          <a:prstGeom prst="roundRect">
            <a:avLst>
              <a:gd name="adj" fmla="val 5000"/>
            </a:avLst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Theory:</a:t>
            </a:r>
            <a:br/>
            <a:r>
              <a:t>Architecture</a:t>
            </a:r>
            <a:br/>
            <a:r>
              <a:t>→ 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4200000"/>
            <a:ext cx="14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20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00000" y="2200000"/>
            <a:ext cx="1400000" cy="180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DDD ↔ TEOB</a:t>
            </a:r>
            <a:br/>
            <a:r>
              <a:t>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0000" y="4200000"/>
            <a:ext cx="14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10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0000" y="2200000"/>
            <a:ext cx="1400000" cy="1800000"/>
          </a:xfrm>
          <a:prstGeom prst="roundRect">
            <a:avLst>
              <a:gd name="adj" fmla="val 500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Exercise 1:</a:t>
            </a:r>
            <a:br/>
            <a:r>
              <a:t>Aggregate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0000" y="4200000"/>
            <a:ext cx="14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00000" y="2200000"/>
            <a:ext cx="1400000" cy="180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Demo:</a:t>
            </a:r>
            <a:br/>
            <a:r>
              <a:t>HTTP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0000" y="4200000"/>
            <a:ext cx="14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10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000" y="2200000"/>
            <a:ext cx="1400000" cy="1800000"/>
          </a:xfrm>
          <a:prstGeom prst="roundRect">
            <a:avLst>
              <a:gd name="adj" fmla="val 500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Exercise 2:</a:t>
            </a:r>
            <a:br/>
            <a:r>
              <a:t>Projection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0" y="4200000"/>
            <a:ext cx="14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20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0000" y="2200000"/>
            <a:ext cx="1400000" cy="1800000"/>
          </a:xfrm>
          <a:prstGeom prst="roundRect">
            <a:avLst>
              <a:gd name="adj" fmla="val 5000"/>
            </a:avLst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Demo:</a:t>
            </a:r>
            <a:br/>
            <a:r>
              <a:t>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0000" y="4200000"/>
            <a:ext cx="14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10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00000" y="2200000"/>
            <a:ext cx="1400000" cy="1800000"/>
          </a:xfrm>
          <a:prstGeom prst="roundRect">
            <a:avLst>
              <a:gd name="adj" fmla="val 500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Full Picture</a:t>
            </a:r>
            <a:br/>
            <a:r>
              <a:t>&amp; Next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00" y="4200000"/>
            <a:ext cx="14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10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00000"/>
            <a:ext cx="10728655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444444"/>
                </a:solidFill>
              </a:defRPr>
            </a:pPr>
            <a:r>
              <a:t>~2 hours  •  One domain (gift cards)  •  Two exercises + two live demos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TRADITIONAL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22222"/>
                </a:solidFill>
              </a:defRPr>
            </a:pPr>
            <a:r>
              <a:t>Primary state: in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0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444444"/>
                </a:solidFill>
              </a:defRPr>
            </a:pPr>
            <a:r>
              <a:t>• Database as source of truth: updates in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8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444444"/>
                </a:solidFill>
              </a:defRPr>
            </a:pPr>
            <a:r>
              <a:t>• Many clients, larger states, frequent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6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444444"/>
                </a:solidFill>
              </a:defRPr>
            </a:pPr>
            <a:r>
              <a:t>• Locks and I/O overhead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4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444444"/>
                </a:solidFill>
              </a:defRPr>
            </a:pPr>
            <a:r>
              <a:t>• Single master doesn't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2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444444"/>
                </a:solidFill>
              </a:defRPr>
            </a:pPr>
            <a:r>
              <a:t>• Caching??...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WHAT MAKES AN IDEAL BACKEND?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0000" y="170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100" b="1">
                <a:solidFill>
                  <a:srgbClr val="2266AA"/>
                </a:solidFill>
              </a:defRPr>
            </a:pPr>
            <a:r>
              <a:t>(Almost) infinitely scalable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0000" y="173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44444"/>
                </a:solidFill>
              </a:defRPr>
            </a:pPr>
            <a:r>
              <a:t>No single master, no locks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55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100" b="1">
                <a:solidFill>
                  <a:srgbClr val="2266AA"/>
                </a:solidFill>
              </a:defRPr>
            </a:pPr>
            <a:r>
              <a:t>Lowest latency possible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00000" y="258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44444"/>
                </a:solidFill>
              </a:defRPr>
            </a:pPr>
            <a:r>
              <a:t>Primary state in memory, not on disk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340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100" b="1">
                <a:solidFill>
                  <a:srgbClr val="2266AA"/>
                </a:solidFill>
              </a:defRPr>
            </a:pPr>
            <a:r>
              <a:t>Always deterministic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0000" y="343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44444"/>
                </a:solidFill>
              </a:defRPr>
            </a:pPr>
            <a:r>
              <a:t>Durability, ordering, integrity guarantees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425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100" b="1">
                <a:solidFill>
                  <a:srgbClr val="2266AA"/>
                </a:solidFill>
              </a:defRPr>
            </a:pPr>
            <a:r>
              <a:t>Transparent, auditable logics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0000" y="428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44444"/>
                </a:solidFill>
              </a:defRPr>
            </a:pPr>
            <a:r>
              <a:t>Every state change is an event you can replay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000" y="510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100" b="1">
                <a:solidFill>
                  <a:srgbClr val="2266AA"/>
                </a:solidFill>
              </a:defRPr>
            </a:pPr>
            <a:r>
              <a:t>Below complexity barrier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0000" y="513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44444"/>
                </a:solidFill>
              </a:defRPr>
            </a:pPr>
            <a:r>
              <a:t>Express intent, not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COMPLETE BEHAVIOUR: DATA + LOGICS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0">
                <a:solidFill>
                  <a:srgbClr val="444444"/>
                </a:solidFill>
              </a:defRPr>
            </a:pPr>
            <a:r>
              <a:t>Business entities: orders, transactions, customers, digital twins...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1">
                <a:solidFill>
                  <a:srgbClr val="222222"/>
                </a:solidFill>
              </a:defRPr>
            </a:pPr>
            <a:r>
              <a:t>Own state and interactions with the world — fully covered: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222222"/>
                </a:solidFill>
              </a:defRPr>
            </a:pPr>
            <a:r>
              <a:t>• Incoming messages (commands) + immediate replies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222222"/>
                </a:solidFill>
              </a:defRPr>
            </a:pPr>
            <a:r>
              <a:t>• State changes (events applied to state)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222222"/>
                </a:solidFill>
              </a:defRPr>
            </a:pPr>
            <a:r>
              <a:t>• External effect calls (to other systems, LLMs, databases...)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222222"/>
                </a:solidFill>
              </a:defRPr>
            </a:pPr>
            <a:r>
              <a:t>• Deferred replies and scheduled timers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EVENT SOURCING: THE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22222"/>
                </a:solidFill>
              </a:defRPr>
            </a:pPr>
            <a:r>
              <a:t>Primary state: in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0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444444"/>
                </a:solidFill>
              </a:defRPr>
            </a:pPr>
            <a:r>
              <a:t>• Log of updates (journal) as source of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8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444444"/>
                </a:solidFill>
              </a:defRPr>
            </a:pPr>
            <a:r>
              <a:t>• Stream — append-only, immutable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6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444444"/>
                </a:solidFill>
              </a:defRPr>
            </a:pPr>
            <a:r>
              <a:t>• Never in-place updates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4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444444"/>
                </a:solidFill>
              </a:defRPr>
            </a:pPr>
            <a:r>
              <a:t>• No locks, no I/O overhead — scales!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0000" y="1500000"/>
            <a:ext cx="4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2266AA"/>
                </a:solidFill>
              </a:defRPr>
            </a:pPr>
            <a:r>
              <a:t>Event Journal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00000" y="2000000"/>
            <a:ext cx="3200000" cy="420000"/>
          </a:xfrm>
          <a:prstGeom prst="roundRect">
            <a:avLst>
              <a:gd name="adj" fmla="val 5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6BB6A"/>
                </a:solidFill>
              </a:defRPr>
            </a:pPr>
            <a:r>
              <a:t>#1  CardIssued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00000" y="2550000"/>
            <a:ext cx="3200000" cy="420000"/>
          </a:xfrm>
          <a:prstGeom prst="roundRect">
            <a:avLst>
              <a:gd name="adj" fmla="val 5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6BB6A"/>
                </a:solidFill>
              </a:defRPr>
            </a:pPr>
            <a:r>
              <a:t>#2  CardRedeemed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3100000"/>
            <a:ext cx="3200000" cy="420000"/>
          </a:xfrm>
          <a:prstGeom prst="roundRect">
            <a:avLst>
              <a:gd name="adj" fmla="val 5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6BB6A"/>
                </a:solidFill>
              </a:defRPr>
            </a:pPr>
            <a:r>
              <a:t>#3  CardRedeemed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00000" y="3650000"/>
            <a:ext cx="3200000" cy="420000"/>
          </a:xfrm>
          <a:prstGeom prst="roundRect">
            <a:avLst>
              <a:gd name="adj" fmla="val 5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6BB6A"/>
                </a:solidFill>
              </a:defRPr>
            </a:pPr>
            <a:r>
              <a:t>#4  CardCancelled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0000" y="4300000"/>
            <a:ext cx="3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→ append only, never mutate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PURE EVENT SOURCING: THE CORE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000"/>
            <a:ext cx="6000000" cy="34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700">
                <a:solidFill>
                  <a:srgbClr val="FFFFFF"/>
                </a:solidFill>
                <a:latin typeface="SF Mono"/>
              </a:defRPr>
            </a:pPr>
            <a:r>
              <a:t>decide(State, Command) → Effect&lt;Event, Reply&gt;</a:t>
            </a:r>
            <a:br/>
            <a:br/>
            <a:r>
              <a:t>  → validate command against current state</a:t>
            </a:r>
            <a:br/>
            <a:r>
              <a:t>  → produce events (or reject)</a:t>
            </a:r>
            <a:br/>
            <a:r>
              <a:t>  → optionally reply to caller</a:t>
            </a:r>
            <a:br/>
            <a:br/>
            <a:r>
              <a:t>apply(State, Event) → State</a:t>
            </a:r>
            <a:br/>
            <a:br/>
            <a:r>
              <a:t>  → pure fold: no logic, just data transformation</a:t>
            </a:r>
            <a:br/>
            <a:r>
              <a:t>  → used for replay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00000" y="1600000"/>
            <a:ext cx="2400000" cy="60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Command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0" y="2300000"/>
            <a:ext cx="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444444"/>
                </a:solidFill>
              </a:defRPr>
            </a:pPr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00000" y="2700000"/>
            <a:ext cx="2400000" cy="60000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decide()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0000" y="3400000"/>
            <a:ext cx="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444444"/>
                </a:solidFill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00000" y="3800000"/>
            <a:ext cx="2400000" cy="600000"/>
          </a:xfrm>
          <a:prstGeom prst="roundRect">
            <a:avLst>
              <a:gd name="adj" fmla="val 500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Event(s)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0000" y="4500000"/>
            <a:ext cx="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444444"/>
                </a:solidFill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0000" y="4900000"/>
            <a:ext cx="2400000" cy="600000"/>
          </a:xfrm>
          <a:prstGeom prst="roundRect">
            <a:avLst>
              <a:gd name="adj" fmla="val 500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apply() → State'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EVENT SOURCING: EFFECTS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444444"/>
                </a:solidFill>
              </a:defRPr>
            </a:pPr>
            <a:r>
              <a:t>decide() returns an Effect describing what should happen: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00000"/>
            <a:ext cx="4800000" cy="5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500">
                <a:solidFill>
                  <a:srgbClr val="FFFFFF"/>
                </a:solidFill>
                <a:latin typeface="SF Mono"/>
              </a:defRPr>
            </a:pPr>
            <a:r>
              <a:t>persist(event)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0000" y="238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2266AA"/>
                </a:solidFill>
              </a:defRPr>
            </a:pPr>
            <a:r>
              <a:t>Store event(s) in the journal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00000"/>
            <a:ext cx="4800000" cy="5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500">
                <a:solidFill>
                  <a:srgbClr val="FFFFFF"/>
                </a:solidFill>
                <a:latin typeface="SF Mono"/>
              </a:defRPr>
            </a:pPr>
            <a:r>
              <a:t>reply(value)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0000" y="308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2266AA"/>
                </a:solidFill>
              </a:defRPr>
            </a:pPr>
            <a:r>
              <a:t>Respond to the caller immediately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00000"/>
            <a:ext cx="4800000" cy="5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500">
                <a:solidFill>
                  <a:srgbClr val="FFFFFF"/>
                </a:solidFill>
                <a:latin typeface="SF Mono"/>
              </a:defRPr>
            </a:pPr>
            <a:r>
              <a:t>andReply(persist(...), reply)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0000" y="378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2266AA"/>
                </a:solidFill>
              </a:defRPr>
            </a:pPr>
            <a:r>
              <a:t>Persist + reply atomically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00000"/>
            <a:ext cx="4800000" cy="5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500">
                <a:solidFill>
                  <a:srgbClr val="FFFFFF"/>
                </a:solidFill>
                <a:latin typeface="SF Mono"/>
              </a:defRPr>
            </a:pPr>
            <a:r>
              <a:t>andRun(persist(...), sideEffect)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0000" y="448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FFA726"/>
                </a:solidFill>
              </a:defRPr>
            </a:pPr>
            <a:r>
              <a:t>Persist, then run async side effect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00000"/>
            <a:ext cx="4800000" cy="5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500">
                <a:solidFill>
                  <a:srgbClr val="FFFFFF"/>
                </a:solidFill>
                <a:latin typeface="SF Mono"/>
              </a:defRPr>
            </a:pPr>
            <a:r>
              <a:t>done()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0000" y="5180000"/>
            <a:ext cx="5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888888"/>
                </a:solidFill>
              </a:defRPr>
            </a:pPr>
            <a:r>
              <a:t>No-op — acknowledge without 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THE DDD CORE MAPS 1:1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0000"/>
          <a:ext cx="1150000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/>
                <a:gridCol w="3500000"/>
                <a:gridCol w="5500000"/>
              </a:tblGrid>
              <a:tr h="5000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DDD</a:t>
                      </a:r>
                    </a:p>
                  </a:txBody>
                  <a:tcPr marL="101600" marT="50800">
                    <a:solidFill>
                      <a:srgbClr val="2266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TEOB</a:t>
                      </a:r>
                    </a:p>
                  </a:txBody>
                  <a:tcPr marL="101600" marT="50800">
                    <a:solidFill>
                      <a:srgbClr val="2266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 marL="101600" marT="50800">
                    <a:solidFill>
                      <a:srgbClr val="2266AA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Aggregate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66AA"/>
                          </a:solidFill>
                          <a:latin typeface="SF Mono"/>
                        </a:defRPr>
                      </a:pPr>
                      <a:r>
                        <a:t>Aggregate&lt;S, C, E, R&gt;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The consistency boundary.</a:t>
                      </a:r>
                    </a:p>
                  </a:txBody>
                  <a:tcPr marL="101600" marT="50800"/>
                </a:tc>
              </a:tr>
              <a:tr h="50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Aggregate ID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66AA"/>
                          </a:solidFill>
                          <a:latin typeface="SF Mono"/>
                        </a:defRPr>
                      </a:pPr>
                      <a:r>
                        <a:t>EntityId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Branded string, same concept.</a:t>
                      </a:r>
                    </a:p>
                  </a:txBody>
                  <a:tcPr marL="101600" marT="50800"/>
                </a:tc>
              </a:tr>
              <a:tr h="50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Command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66AA"/>
                          </a:solidFill>
                          <a:latin typeface="SF Mono"/>
                        </a:defRPr>
                      </a:pPr>
                      <a:r>
                        <a:t>Command (type param)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Inbound intent.</a:t>
                      </a:r>
                    </a:p>
                  </a:txBody>
                  <a:tcPr marL="101600" marT="50800"/>
                </a:tc>
              </a:tr>
              <a:tr h="50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Domain Event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66AA"/>
                          </a:solidFill>
                          <a:latin typeface="SF Mono"/>
                        </a:defRPr>
                      </a:pPr>
                      <a:r>
                        <a:t>Event (type param)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Fact that happened.</a:t>
                      </a:r>
                    </a:p>
                  </a:txBody>
                  <a:tcPr marL="101600" marT="50800"/>
                </a:tc>
              </a:tr>
              <a:tr h="50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Decision function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66AA"/>
                          </a:solidFill>
                          <a:latin typeface="SF Mono"/>
                        </a:defRPr>
                      </a:pPr>
                      <a:r>
                        <a:t>decide(state, cmd, ctx)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"Given state + command, what happens?"</a:t>
                      </a:r>
                    </a:p>
                  </a:txBody>
                  <a:tcPr marL="101600" marT="50800"/>
                </a:tc>
              </a:tr>
              <a:tr h="50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State fold / evolve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66AA"/>
                          </a:solidFill>
                          <a:latin typeface="SF Mono"/>
                        </a:defRPr>
                      </a:pPr>
                      <a:r>
                        <a:t>apply(state, event)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Pure left-fold.</a:t>
                      </a:r>
                    </a:p>
                  </a:txBody>
                  <a:tcPr marL="101600" marT="50800"/>
                </a:tc>
              </a:tr>
              <a:tr h="50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Initial state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66AA"/>
                          </a:solidFill>
                          <a:latin typeface="SF Mono"/>
                        </a:defRPr>
                      </a:pPr>
                      <a:r>
                        <a:t>initial(id)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The "zero" of the fold.</a:t>
                      </a:r>
                    </a:p>
                  </a:txBody>
                  <a:tcPr marL="101600" marT="50800"/>
                </a:tc>
              </a:tr>
              <a:tr h="50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Invariant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66AA"/>
                          </a:solidFill>
                          <a:latin typeface="SF Mono"/>
                        </a:defRPr>
                      </a:pPr>
                      <a:r>
                        <a:t>invariants[]</a:t>
                      </a:r>
                    </a:p>
                  </a:txBody>
                  <a:tcPr marL="101600" marT="50800"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Executable, testable — faithful to DDD intent.</a:t>
                      </a:r>
                    </a:p>
                  </a:txBody>
                  <a:tcPr marL="101600" marT="5080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BEYOND THE BLUE 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00000"/>
            <a:ext cx="28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266AA"/>
                </a:solidFill>
              </a:defRPr>
            </a:pPr>
            <a:r>
              <a:t>Effect ADT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0000" y="1700000"/>
            <a:ext cx="80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44444"/>
                </a:solidFill>
              </a:defRPr>
            </a:pPr>
            <a:r>
              <a:t>Declarative Effect&lt;Event, Reply&gt; — a program describing what should happen.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0000"/>
            <a:ext cx="28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266AA"/>
                </a:solidFill>
              </a:defRPr>
            </a:pPr>
            <a:r>
              <a:t>Reply as first-class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0000" y="2600000"/>
            <a:ext cx="80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44444"/>
                </a:solidFill>
              </a:defRPr>
            </a:pPr>
            <a:r>
              <a:t>persist(...).andReply(...) atomically. CQRS-with-response.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00000"/>
            <a:ext cx="28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266AA"/>
                </a:solidFill>
              </a:defRPr>
            </a:pPr>
            <a:r>
              <a:t>EffectControl (ctx)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0000" y="3500000"/>
            <a:ext cx="80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44444"/>
                </a:solidFill>
              </a:defRPr>
            </a:pPr>
            <a:r>
              <a:t>Timers, cross-entity messaging, external effects (ctx.sync, ctx.tell).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00000"/>
            <a:ext cx="28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266AA"/>
                </a:solidFill>
              </a:defRPr>
            </a:pPr>
            <a:r>
              <a:t>Invariants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0000" y="4400000"/>
            <a:ext cx="80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44444"/>
                </a:solidFill>
              </a:defRPr>
            </a:pPr>
            <a:r>
              <a:t>Executable and testable — faithful to why the boundary exists.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00000"/>
            <a:ext cx="28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266AA"/>
                </a:solidFill>
              </a:defRPr>
            </a:pPr>
            <a:r>
              <a:t>Projections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0000" y="5300000"/>
            <a:ext cx="80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44444"/>
                </a:solidFill>
              </a:defRPr>
            </a:pPr>
            <a:r>
              <a:t>Event → read model. Same pure fold pattern, optimized for queries.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EVERYTHING IS AN ENTITY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0000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0">
                <a:solidFill>
                  <a:srgbClr val="222222"/>
                </a:solidFill>
              </a:defRPr>
            </a:pPr>
            <a:r>
              <a:t>• Complete entity behaviour — as pure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0000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0">
                <a:solidFill>
                  <a:srgbClr val="222222"/>
                </a:solidFill>
              </a:defRPr>
            </a:pPr>
            <a:r>
              <a:t>• Codecs — serialisable representation (Command, Reply, Event, State)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0000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0">
                <a:solidFill>
                  <a:srgbClr val="222222"/>
                </a:solidFill>
              </a:defRPr>
            </a:pPr>
            <a:r>
              <a:t>• Agnostic to execution and persistence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0000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0">
                <a:solidFill>
                  <a:srgbClr val="222222"/>
                </a:solidFill>
              </a:defRPr>
            </a:pPr>
            <a:r>
              <a:t>• Multiple runtimes: in-memory, SQLite, PostgreSQL (same aggregate code)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00000"/>
            <a:ext cx="7000000" cy="12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500">
                <a:solidFill>
                  <a:srgbClr val="FFFFFF"/>
                </a:solidFill>
                <a:latin typeface="SF Mono"/>
              </a:defRPr>
            </a:pPr>
            <a:r>
              <a:t>// Same aggregate code, different runtimes:</a:t>
            </a:r>
            <a:br/>
            <a:r>
              <a:t>createInMemoryRuntime([reg])     // tests &amp; dev</a:t>
            </a:r>
            <a:br/>
            <a:r>
              <a:t>createSQLiteRuntime([reg])       // zero-config local</a:t>
            </a:r>
            <a:br/>
            <a:r>
              <a:t>createPostgresRuntime([reg])     // production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66BB6A"/>
                </a:solidFill>
              </a:defRPr>
            </a:pPr>
            <a:r>
              <a:t>EXERCISE 1: GIFT CARD AGGREGATE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000"/>
            <a:ext cx="6500000" cy="10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700">
                <a:solidFill>
                  <a:srgbClr val="FFFFFF"/>
                </a:solidFill>
                <a:latin typeface="SF Mono"/>
              </a:defRPr>
            </a:pPr>
            <a:r>
              <a:t>Commands:  Issue | Redeem | Cancel | GetBalance</a:t>
            </a:r>
            <a:br/>
            <a:r>
              <a:t>Events:    Issued | Redeemed | Cancelled</a:t>
            </a:r>
            <a:br/>
            <a:r>
              <a:t>State:     { balance, status, recipientName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00000"/>
            <a:ext cx="6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22222"/>
                </a:solidFill>
              </a:defRPr>
            </a:pPr>
            <a:r>
              <a:t>Business rules to implement: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00000"/>
            <a:ext cx="10728655" cy="4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Issue only if card is Empty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20000"/>
            <a:ext cx="10728655" cy="4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Redeem only if Active, amount ≤ 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40000"/>
            <a:ext cx="10728655" cy="4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Cancel only if 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0000"/>
            <a:ext cx="10728655" cy="4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Invariants: balance ≥ 0, cancelled → balance =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00000"/>
            <a:ext cx="5500000" cy="5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600">
                <a:solidFill>
                  <a:srgbClr val="FFFFFF"/>
                </a:solidFill>
                <a:latin typeface="SF Mono"/>
              </a:defRPr>
            </a:pPr>
            <a:r>
              <a:t>npm run test:aggregate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0000" y="5450000"/>
            <a:ext cx="5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66BB6A"/>
                </a:solidFill>
              </a:defRPr>
            </a:pPr>
            <a:r>
              <a:t>15 tests. Make them green.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00000"/>
            <a:ext cx="10728655" cy="10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66BB6A"/>
                </a:solidFill>
              </a:defRPr>
            </a:pPr>
            <a:r>
              <a:t>EXERCISE 1: AGGREGATE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00000"/>
            <a:ext cx="10728655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888888"/>
                </a:solidFill>
              </a:defRPr>
            </a:pPr>
            <a:r>
              <a:t>30 minutes  •  15 tests  •  implement decide() +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6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66BB6A"/>
                </a:solidFill>
                <a:latin typeface="SF Mono"/>
              </a:defRPr>
            </a:pPr>
            <a:r>
              <a:t>npm run test:aggregate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EXERCISE 1: DEBRIEF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00000"/>
            <a:ext cx="10728655" cy="5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decide() — all business logic in one place, pattern-matched on command tag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50000"/>
            <a:ext cx="10728655" cy="5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apply() — pure state fold, no logic, just data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00000"/>
            <a:ext cx="10728655" cy="5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invariants[] — executable contracts that guard consistency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50000"/>
            <a:ext cx="10728655" cy="5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Effect ADT — persist(), reply(), andReply() — declarative, composable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00000"/>
            <a:ext cx="10728655" cy="5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• AggregateTestKit — test the domain directly, no infrastructure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00000"/>
            <a:ext cx="8500000" cy="10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500">
                <a:solidFill>
                  <a:srgbClr val="FFFFFF"/>
                </a:solidFill>
                <a:latin typeface="SF Mono"/>
              </a:defRPr>
            </a:pPr>
            <a:r>
              <a:t>// The core pattern:</a:t>
            </a:r>
            <a:br/>
            <a:r>
              <a:t>if (invalid) return reply({ tag: 'Rejected', reason: '...' })</a:t>
            </a:r>
            <a:br/>
            <a:r>
              <a:t>return andReply(persist(event), { tag: 'Ok' })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66AA"/>
                </a:solidFill>
              </a:defRPr>
            </a:pPr>
            <a:r>
              <a:t>DEMO: YOUR AGGREGATE AS AN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0">
                <a:solidFill>
                  <a:srgbClr val="444444"/>
                </a:solidFill>
              </a:defRPr>
            </a:pPr>
            <a:r>
              <a:t>Your decide() function is now a live HTTP endpoint: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00000"/>
            <a:ext cx="8500000" cy="32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400">
                <a:solidFill>
                  <a:srgbClr val="FFFFFF"/>
                </a:solidFill>
                <a:latin typeface="SF Mono"/>
              </a:defRPr>
            </a:pPr>
            <a:r>
              <a:t># Issue a gift card</a:t>
            </a:r>
            <a:br/>
            <a:r>
              <a:t>curl -X POST http://localhost:3000/api/gift-card/card-1 \</a:t>
            </a:r>
            <a:br/>
            <a:r>
              <a:t>  -H 'Content-Type: application/json' \</a:t>
            </a:r>
            <a:br/>
            <a:r>
              <a:t>  -d '{"tag":"Issue","amount":100,"recipientName":"Alice"}'</a:t>
            </a:r>
            <a:br/>
            <a:r>
              <a:t>→ {"tag":"Ok"}</a:t>
            </a:r>
            <a:br/>
            <a:br/>
            <a:r>
              <a:t># Redeem</a:t>
            </a:r>
            <a:br/>
            <a:r>
              <a:t>curl -X POST ... -d '{"tag":"Redeem","amount":30}'</a:t>
            </a:r>
            <a:br/>
            <a:r>
              <a:t>→ {"tag":"Ok"}</a:t>
            </a:r>
            <a:br/>
            <a:br/>
            <a:r>
              <a:t># Reject (too much)</a:t>
            </a:r>
            <a:br/>
            <a:r>
              <a:t>curl -X POST ... -d '{"tag":"Redeem","amount":999}'</a:t>
            </a:r>
            <a:br/>
            <a:r>
              <a:t>→ 400 {"tag":"Rejected","reason":"Insufficient balance"}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266AA"/>
                </a:solidFill>
              </a:defRPr>
            </a:pPr>
            <a:r>
              <a:t>Reply → HTTP response.  Rejection → 400.  Timeout → 504.  ETag for optimistic concurrency.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0000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00000"/>
            <a:ext cx="10728655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888888"/>
                </a:solidFill>
              </a:defRPr>
            </a:pPr>
            <a:r>
              <a:t>5 minutes  •  stretch  •  refill coffee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66BB6A"/>
                </a:solidFill>
              </a:defRPr>
            </a:pPr>
            <a:r>
              <a:t>Next up: the read side — projections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WRITE SIDE VS READ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00000"/>
            <a:ext cx="4800000" cy="250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00000" y="1900000"/>
            <a:ext cx="44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WRITE SIDE (aggregate)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400000"/>
            <a:ext cx="4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decide() — validates, produces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800000"/>
            <a:ext cx="4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apply() — state for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200000"/>
            <a:ext cx="4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Optimized for 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600000"/>
            <a:ext cx="4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One entity at a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0" y="1800000"/>
            <a:ext cx="4800000" cy="2500000"/>
          </a:xfrm>
          <a:prstGeom prst="roundRect">
            <a:avLst>
              <a:gd name="adj" fmla="val 500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000" y="1900000"/>
            <a:ext cx="44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READ SIDE (projection)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000" y="2400000"/>
            <a:ext cx="4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evolve() — builds query-optimized 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0" y="2800000"/>
            <a:ext cx="4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Can include derived data (counts, aggregations)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000" y="3200000"/>
            <a:ext cx="4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Optimized for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000" y="3600000"/>
            <a:ext cx="4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Can span multiple entities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0000" y="2700000"/>
            <a:ext cx="1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A726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222222"/>
                </a:solidFill>
              </a:defRPr>
            </a:pPr>
            <a:r>
              <a:t>Same pattern: pure function, event in → new state 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00000"/>
            <a:ext cx="10728655" cy="6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600">
                <a:solidFill>
                  <a:srgbClr val="FFFFFF"/>
                </a:solidFill>
                <a:latin typeface="SF Mono"/>
              </a:defRPr>
            </a:pPr>
            <a:r>
              <a:t>// Write side                          // Read side</a:t>
            </a:r>
            <a:br/>
            <a:r>
              <a:t>apply(state, event) → State           evolve(view, event) → View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66BB6A"/>
                </a:solidFill>
              </a:defRPr>
            </a:pPr>
            <a:r>
              <a:t>EXERCISE 2: GIFT CARD PROJECTION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0">
                <a:solidFill>
                  <a:srgbClr val="444444"/>
                </a:solidFill>
              </a:defRPr>
            </a:pPr>
            <a:r>
              <a:t>Build a read model from gift card events: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00000"/>
            <a:ext cx="6500000" cy="14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600">
                <a:solidFill>
                  <a:srgbClr val="FFFFFF"/>
                </a:solidFill>
                <a:latin typeface="SF Mono"/>
              </a:defRPr>
            </a:pPr>
            <a:r>
              <a:t>GiftCardView {</a:t>
            </a:r>
            <a:br/>
            <a:r>
              <a:t>  balance, status, recipientName,</a:t>
            </a:r>
            <a:br/>
            <a:r>
              <a:t>  encouragement,        // from LLM (demo)</a:t>
            </a:r>
            <a:br/>
            <a:r>
              <a:t>  transactionCount      // derived — aggregate doesn't track this!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00000"/>
            <a:ext cx="6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22222"/>
                </a:solidFill>
              </a:defRPr>
            </a:pPr>
            <a:r>
              <a:t>Implement evolve() — same pattern as apply():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0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22222"/>
                </a:solidFill>
              </a:defRPr>
            </a:pPr>
            <a:r>
              <a:t>• Issued → set balance, status, recipientName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8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22222"/>
                </a:solidFill>
              </a:defRPr>
            </a:pPr>
            <a:r>
              <a:t>• Redeemed → subtract amount, increment transactionCount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6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22222"/>
                </a:solidFill>
              </a:defRPr>
            </a:pPr>
            <a:r>
              <a:t>• Cancelled → zero balance, set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40000"/>
            <a:ext cx="10728655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22222"/>
                </a:solidFill>
              </a:defRPr>
            </a:pPr>
            <a:r>
              <a:t>• EncouragementSet → set encouragement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00000"/>
            <a:ext cx="5500000" cy="5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600">
                <a:solidFill>
                  <a:srgbClr val="FFFFFF"/>
                </a:solidFill>
                <a:latin typeface="SF Mono"/>
              </a:defRPr>
            </a:pPr>
            <a:r>
              <a:t>npm run test:projection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0000" y="5950000"/>
            <a:ext cx="5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66BB6A"/>
                </a:solidFill>
              </a:defRPr>
            </a:pPr>
            <a:r>
              <a:t>8 tests. Make them green.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00000"/>
            <a:ext cx="10728655" cy="10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66BB6A"/>
                </a:solidFill>
              </a:defRPr>
            </a:pPr>
            <a:r>
              <a:t>EXERCISE 2: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00000"/>
            <a:ext cx="10728655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888888"/>
                </a:solidFill>
              </a:defRPr>
            </a:pPr>
            <a:r>
              <a:t>20 minutes  •  8 tests  •  implement evolve()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6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66BB6A"/>
                </a:solidFill>
                <a:latin typeface="SF Mono"/>
              </a:defRPr>
            </a:pPr>
            <a:r>
              <a:t>npm run test:projection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888888"/>
                </a:solidFill>
              </a:defRPr>
            </a:pPr>
            <a:r>
              <a:t>Same pattern as apply()  •  HINTS-projection.md if stuck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EXERCISE 2: DEBRIEF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22222"/>
                </a:solidFill>
              </a:defRPr>
            </a:pPr>
            <a:r>
              <a:t>Three pure functions — that's the whole model: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00000"/>
            <a:ext cx="8000000" cy="10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800">
                <a:solidFill>
                  <a:srgbClr val="FFFFFF"/>
                </a:solidFill>
                <a:latin typeface="SF Mono"/>
              </a:defRPr>
            </a:pPr>
            <a:r>
              <a:t>decide(state, command)  → Effect     // business logic</a:t>
            </a:r>
            <a:br/>
            <a:r>
              <a:t>apply(state, event)     → State      // write-side fold</a:t>
            </a:r>
            <a:br/>
            <a:r>
              <a:t>evolve(view, event)     → View       // read-side fold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22222"/>
                </a:solidFill>
              </a:defRPr>
            </a:pPr>
            <a:r>
              <a:t>What the projection gave you that the aggregate doesn't: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66AA"/>
                </a:solidFill>
              </a:defRPr>
            </a:pPr>
            <a:r>
              <a:t>• transactionCount — derived data, computed from event 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66AA"/>
                </a:solidFill>
              </a:defRPr>
            </a:pPr>
            <a:r>
              <a:t>• encouragement — data from a different event (LLM callback)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66AA"/>
                </a:solidFill>
              </a:defRPr>
            </a:pPr>
            <a:r>
              <a:t>• Optimized for queries — flat shape, no business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00000"/>
            <a:ext cx="10728655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66AA"/>
                </a:solidFill>
              </a:defRPr>
            </a:pPr>
            <a:r>
              <a:t>• Can be rebuilt anytime from the event journal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9C27B0"/>
                </a:solidFill>
              </a:defRPr>
            </a:pPr>
            <a:r>
              <a:t>DEMO: LLM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444444"/>
                </a:solidFill>
              </a:defRPr>
            </a:pPr>
            <a:r>
              <a:t>When a gift card is issued, ask an LLM to write a personal encouragement: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00000"/>
            <a:ext cx="9000000" cy="3200000"/>
          </a:xfrm>
          <a:prstGeom prst="roundRect">
            <a:avLst>
              <a:gd name="adj" fmla="val 2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203200" bIns="152400"/>
          <a:lstStyle/>
          <a:p>
            <a:pPr algn="ctr">
              <a:defRPr sz="1400">
                <a:solidFill>
                  <a:srgbClr val="FFFFFF"/>
                </a:solidFill>
                <a:latin typeface="SF Mono"/>
              </a:defRPr>
            </a:pPr>
            <a:r>
              <a:t>case "Issue": {</a:t>
            </a:r>
            <a:br/>
            <a:r>
              <a:t>  return andReply(</a:t>
            </a:r>
            <a:br/>
            <a:r>
              <a:t>    andRun(</a:t>
            </a:r>
            <a:br/>
            <a:r>
              <a:t>      persist({ tag: "Issued", ... }),</a:t>
            </a:r>
            <a:br/>
            <a:r>
              <a:t>      async () =&gt; {</a:t>
            </a:r>
            <a:br/>
            <a:r>
              <a:t>        await ctx.sync({                        // ← same pattern!</a:t>
            </a:r>
            <a:br/>
            <a:r>
              <a:t>          effect: () =&gt; generateEncouragement(name, amount),</a:t>
            </a:r>
            <a:br/>
            <a:r>
              <a:t>          onSuccess: (r) =&gt; ({ tag: "SetEncouragement", text: r.text }),</a:t>
            </a:r>
            <a:br/>
            <a:r>
              <a:t>          onFailure: (_) =&gt; ({ tag: "SetEncouragement", text: fallback }),</a:t>
            </a:r>
            <a:br/>
            <a:r>
              <a:t>        });</a:t>
            </a:r>
            <a:br/>
            <a:r>
              <a:t>      },</a:t>
            </a:r>
            <a:br/>
            <a:r>
              <a:t>    ),</a:t>
            </a:r>
            <a:br/>
            <a:r>
              <a:t>    { tag: "Ok" },</a:t>
            </a:r>
            <a:br/>
            <a:r>
              <a:t>  );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9C27B0"/>
                </a:solidFill>
              </a:defRPr>
            </a:pPr>
            <a:r>
              <a:t>ctx.sync() — same pattern for LLM, payment gateway, shipping API. Event sourcing gives you retry, replay, audit — for free.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THE FULL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00000"/>
            <a:ext cx="2500000" cy="800000"/>
          </a:xfrm>
          <a:prstGeom prst="roundRect">
            <a:avLst>
              <a:gd name="adj" fmla="val 500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Your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0000" y="1900000"/>
            <a:ext cx="8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Aggregates, Projections, Sagas — pure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00000"/>
            <a:ext cx="2500000" cy="80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TEOB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0000" y="3000000"/>
            <a:ext cx="8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Effect system, Runtime, Codecs, TestKit, HTTP 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00000"/>
            <a:ext cx="2500000" cy="800000"/>
          </a:xfrm>
          <a:prstGeom prst="roundRect">
            <a:avLst>
              <a:gd name="adj" fmla="val 500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Persistence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0000" y="4100000"/>
            <a:ext cx="8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In-memory → SQLite → PostgreSQL (zero code changes)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00000"/>
            <a:ext cx="2500000" cy="800000"/>
          </a:xfrm>
          <a:prstGeom prst="roundRect">
            <a:avLst>
              <a:gd name="adj" fmla="val 5000"/>
            </a:avLst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0000" y="5200000"/>
            <a:ext cx="8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222222"/>
                </a:solidFill>
              </a:defRPr>
            </a:pPr>
            <a:r>
              <a:t>Health checks, OpenTelemetry, OpenAPI generation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BATTLE TESTED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00000"/>
            <a:ext cx="10728655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100" b="1">
                <a:solidFill>
                  <a:srgbClr val="222222"/>
                </a:solidFill>
              </a:defRPr>
            </a:pPr>
            <a:r>
              <a:t>• Natively CQS — for (almost) infinite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00000"/>
            <a:ext cx="10728655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100" b="1">
                <a:solidFill>
                  <a:srgbClr val="222222"/>
                </a:solidFill>
              </a:defRPr>
            </a:pPr>
            <a:r>
              <a:t>• FP and DDD — to express intrinsically complex data and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00000"/>
            <a:ext cx="10728655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100" b="1">
                <a:solidFill>
                  <a:srgbClr val="222222"/>
                </a:solidFill>
              </a:defRPr>
            </a:pPr>
            <a:r>
              <a:t>• Everything is executed deterministically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00000"/>
            <a:ext cx="10728655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100" b="1">
                <a:solidFill>
                  <a:srgbClr val="222222"/>
                </a:solidFill>
              </a:defRPr>
            </a:pPr>
            <a:r>
              <a:t>• 10+ years of real production (fintech) experience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0000"/>
            <a:ext cx="10728655" cy="8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WHAT'S NEXT?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00000"/>
            <a:ext cx="10728655" cy="3600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100000"/>
            <a:ext cx="400000" cy="400000"/>
          </a:xfrm>
          <a:prstGeom prst="roundRect">
            <a:avLst>
              <a:gd name="adj" fmla="val 500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0000" y="210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Clone the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0000" y="2450000"/>
            <a:ext cx="10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github.com/lambda-house/teob-ts-workshop-gift-card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00000"/>
            <a:ext cx="400000" cy="40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0000" y="290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Try at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0000" y="3250000"/>
            <a:ext cx="10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Add Freeze/Unfreeze commands, transaction history in the 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0000"/>
            <a:ext cx="400000" cy="400000"/>
          </a:xfrm>
          <a:prstGeom prst="roundRect">
            <a:avLst>
              <a:gd name="adj" fmla="val 5000"/>
            </a:avLst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0000" y="370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Scaffold your 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0000" y="4050000"/>
            <a:ext cx="10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npx teob new aggregate — working code in seconds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00000"/>
            <a:ext cx="400000" cy="400000"/>
          </a:xfrm>
          <a:prstGeom prst="roundRect">
            <a:avLst>
              <a:gd name="adj" fmla="val 500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0000" y="450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Watch the recording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0000" y="4850000"/>
            <a:ext cx="10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Solution walkthroughs with chapter markers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0000"/>
            <a:ext cx="400000" cy="400000"/>
          </a:xfrm>
          <a:prstGeom prst="roundRect">
            <a:avLst>
              <a:gd name="adj" fmla="val 5000"/>
            </a:avLst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0000" y="5300000"/>
            <a:ext cx="5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Next workshop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0000" y="5650000"/>
            <a:ext cx="10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888888"/>
                </a:solidFill>
              </a:defRPr>
            </a:pPr>
            <a:r>
              <a:t>Episode 2: Sagas &amp; Cross-Aggregate Communication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00000"/>
            <a:ext cx="10728655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Thank you!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